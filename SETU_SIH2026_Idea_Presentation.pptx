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3B82F6"/>
                </a:solidFill>
                <a:latin typeface="Calibri"/>
              </a:defRPr>
            </a:pPr>
            <a:r>
              <a:t>PROBLEM STATEMENT ID: SIH26027</a:t>
            </a:r>
            <a:endParaRPr lang="en-US" dirty="0"/>
          </a:p>
          <a:p>
            <a:pPr algn="l">
              <a:spcAft>
                <a:spcPts val="6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Problem Title: Integrated AI Block Planning for Railway Engineering, Traction Distribution &amp; S&amp;T Maintenance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94A3B8"/>
                </a:solidFill>
                <a:latin typeface="Calibri"/>
              </a:defRPr>
            </a:pPr>
            <a:r>
              <a:t>Official Theme: Smart Transportation / Infrastructure / Railways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94A3B8"/>
                </a:solidFill>
                <a:latin typeface="Calibri"/>
              </a:defRPr>
            </a:pPr>
            <a:r>
              <a:t>PS Category: Software | Target: Ministry of Railways (Indian Railways)</a:t>
            </a:r>
          </a:p>
          <a:p>
            <a:pPr algn="l">
              <a:defRPr sz="1100" b="1">
                <a:solidFill>
                  <a:srgbClr val="10B981"/>
                </a:solidFill>
                <a:latin typeface="Calibri"/>
              </a:defRPr>
            </a:pPr>
            <a:r>
              <a:t>Team ID: [Registered Team ID]   |   Team Name: [Registered Team Name]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17920" y="1645920"/>
            <a:ext cx="548640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92240" y="1828800"/>
            <a:ext cx="493776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Calibri"/>
              </a:defRPr>
            </a:pPr>
            <a:r>
              <a:t>THE CORE IDEA: COMBINING THREE SHUTDOWNS INTO ONE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2286000"/>
            <a:ext cx="493776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83680" y="2377440"/>
            <a:ext cx="4754880" cy="2286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TODAY'S PRACTICE: 3 SEPARATE TRACK SHUTDOWNS (14.2h Lost)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2670048"/>
            <a:ext cx="2011680" cy="21945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Track (P-Way): 09:00 - 12:00 (3h)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0" y="2670048"/>
            <a:ext cx="1554480" cy="219456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Electrical (TRD): 13:30 - 15:30 (2h)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32720" y="2670048"/>
            <a:ext cx="1005840" cy="21945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Signals: 16:30 (1.5h)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2926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Trains halted 3 times a day | Freight held in sidings | Severe passenger delays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379476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Calibri"/>
              </a:defRPr>
            </a:pPr>
            <a:r>
              <a:t>v   SETU SMART OPTIMIZATION &amp; RAILWAY SAFETY CHECK   v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92240" y="4160520"/>
            <a:ext cx="4937760" cy="1600200"/>
          </a:xfrm>
          <a:prstGeom prst="roundRect">
            <a:avLst/>
          </a:prstGeom>
          <a:solidFill>
            <a:srgbClr val="1024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83680" y="4251960"/>
            <a:ext cx="4754880" cy="23774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SETU INNOVATION: 1 COMBINED MAINTENANCE WINDOW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83680" y="4572000"/>
            <a:ext cx="4754880" cy="502920"/>
          </a:xfrm>
          <a:prstGeom prst="roundRect">
            <a:avLst/>
          </a:prstGeom>
          <a:solidFill>
            <a:srgbClr val="0A142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675120" y="4626864"/>
            <a:ext cx="3657600" cy="1645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8FAFC"/>
                </a:solidFill>
                <a:latin typeface="Calibri"/>
              </a:defRPr>
            </a:pPr>
            <a:r>
              <a:t>Track: Heavy Tamping Machine works along rails (Km 102.0 - 104.5)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949440" y="4809744"/>
            <a:ext cx="2926080" cy="16459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80" b="1">
                <a:solidFill>
                  <a:srgbClr val="F8FAFC"/>
                </a:solidFill>
                <a:latin typeface="Calibri"/>
              </a:defRPr>
            </a:pPr>
            <a:r>
              <a:t>Electrical: Tower Car checks wires under certified 25kV power cut (Km 102.5 - 104.0)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4809744"/>
            <a:ext cx="2011680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8FAFC"/>
                </a:solidFill>
                <a:latin typeface="Calibri"/>
              </a:defRPr>
            </a:pPr>
            <a:r>
              <a:t>Signals: Point switch testing (Km 104.2)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51206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0B981"/>
                </a:solidFill>
                <a:latin typeface="Calibri"/>
              </a:defRPr>
            </a:pPr>
            <a:r>
              <a:t>1 Single Combined Window (210 min)  |  Saves 180 min of track time for running trains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Zero passenger train disruption  *  100% official railway safety buffer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PROPOSED SOLUTION: CROSS-DEPARTMENT SHADOW CONVOY ENGINE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91440000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57200" y="1188720"/>
            <a:ext cx="4389120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ounded Rectangle 15363"/>
          <p:cNvSpPr/>
          <p:nvPr/>
        </p:nvSpPr>
        <p:spPr>
          <a:xfrm>
            <a:off x="640080" y="1325880"/>
            <a:ext cx="4023360" cy="2743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Calibri"/>
              </a:defRPr>
            </a:pPr>
            <a:r>
              <a:t>TODAY'S REALITY: DEPARTMENT SILOS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640080" y="1691640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50" b="0">
                <a:solidFill>
                  <a:srgbClr val="F59E0B"/>
                </a:solidFill>
                <a:latin typeface="Calibri"/>
              </a:defRPr>
            </a:pPr>
            <a:r>
              <a:t>* Track Team (P-Way): Requests 09:00 - 12:00 block -&gt; 180 min track closure</a:t>
            </a:r>
          </a:p>
          <a:p>
            <a:pPr algn="l">
              <a:spcAft>
                <a:spcPts val="400"/>
              </a:spcAft>
              <a:defRPr sz="950" b="0">
                <a:solidFill>
                  <a:srgbClr val="06B6D4"/>
                </a:solidFill>
                <a:latin typeface="Calibri"/>
              </a:defRPr>
            </a:pPr>
            <a:r>
              <a:t>* Electrical Team (TRD): Requests 13:30 - 15:30 block -&gt; 120 min track closure</a:t>
            </a:r>
          </a:p>
          <a:p>
            <a:pPr algn="l">
              <a:spcAft>
                <a:spcPts val="600"/>
              </a:spcAft>
              <a:defRPr sz="950" b="0">
                <a:solidFill>
                  <a:srgbClr val="10B981"/>
                </a:solidFill>
                <a:latin typeface="Calibri"/>
              </a:defRPr>
            </a:pPr>
            <a:r>
              <a:t>* Signal Team (S&amp;T): Requests 16:30 - 18:00 block -&gt; 90 min track closure</a:t>
            </a:r>
          </a:p>
          <a:p>
            <a:pPr algn="l">
              <a:defRPr sz="900" b="1">
                <a:solidFill>
                  <a:srgbClr val="EF4444"/>
                </a:solidFill>
                <a:latin typeface="Calibri"/>
              </a:defRPr>
            </a:pPr>
            <a:r>
              <a:t>THE BOTTLENECK: 3 Separate Track Closures (390 min total lost). Section controllers manage paper forms &amp; phone calls. Freight held at outer loops, causing ripple delays across the network.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029200" y="1188720"/>
            <a:ext cx="6702552" cy="2377440"/>
          </a:xfrm>
          <a:prstGeom prst="roundRect">
            <a:avLst/>
          </a:prstGeom>
          <a:solidFill>
            <a:srgbClr val="10243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5212080" y="1325880"/>
            <a:ext cx="6336792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Calibri"/>
              </a:defRPr>
            </a:pPr>
            <a:r>
              <a:t>THE SETU REVOLUTION: SYNCHRONIZED WORK WINDOWS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5212080" y="1691640"/>
            <a:ext cx="633679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50" b="1">
                <a:solidFill>
                  <a:srgbClr val="10B981"/>
                </a:solidFill>
                <a:latin typeface="Calibri"/>
              </a:defRPr>
            </a:pPr>
            <a:r>
              <a:t>ONE COMBINED TRACK WINDOW: 11:00 - 14:30 (210 min active work)</a:t>
            </a:r>
          </a:p>
          <a:p>
            <a:pPr algn="l">
              <a:spcAft>
                <a:spcPts val="300"/>
              </a:spcAft>
              <a:defRPr sz="950" b="0">
                <a:solidFill>
                  <a:srgbClr val="F8FAFC"/>
                </a:solidFill>
                <a:latin typeface="Calibri"/>
              </a:defRPr>
            </a:pPr>
            <a:r>
              <a:t>* Track Team: Tamping machine works on track from Km 102.0 to 104.5.</a:t>
            </a:r>
          </a:p>
          <a:p>
            <a:pPr algn="l">
              <a:spcAft>
                <a:spcPts val="300"/>
              </a:spcAft>
              <a:defRPr sz="950" b="0">
                <a:solidFill>
                  <a:srgbClr val="F8FAFC"/>
                </a:solidFill>
                <a:latin typeface="Calibri"/>
              </a:defRPr>
            </a:pPr>
            <a:r>
              <a:t>* Electrical Team: Overhead wire inspection from Km 102.5 to 104.0 under certified power cut.</a:t>
            </a:r>
          </a:p>
          <a:p>
            <a:pPr algn="l">
              <a:spcAft>
                <a:spcPts val="600"/>
              </a:spcAft>
              <a:defRPr sz="950" b="0">
                <a:solidFill>
                  <a:srgbClr val="F8FAFC"/>
                </a:solidFill>
                <a:latin typeface="Calibri"/>
              </a:defRPr>
            </a:pPr>
            <a:r>
              <a:t>* Signal Team: Track crossover switches and point machine tested at Km 104.2 junction.</a:t>
            </a:r>
          </a:p>
          <a:p>
            <a:pPr algn="l">
              <a:defRPr sz="950" b="1">
                <a:solidFill>
                  <a:srgbClr val="3B82F6"/>
                </a:solidFill>
                <a:latin typeface="Calibri"/>
              </a:defRPr>
            </a:pPr>
            <a:r>
              <a:t>BREAKTHROUGH RESULT: 1 Track Closure instead of 3. Returns 180 min of track time back to passenger express &amp; freight trains. Zero train cancellations.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57200" y="3703320"/>
            <a:ext cx="36118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ounded Rectangle 15369"/>
          <p:cNvSpPr/>
          <p:nvPr/>
        </p:nvSpPr>
        <p:spPr>
          <a:xfrm>
            <a:off x="594360" y="3840480"/>
            <a:ext cx="333756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1. ONE SHARED DIGITAL HUB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594360" y="4142232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F8FAFC"/>
                </a:solidFill>
                <a:latin typeface="Calibri"/>
              </a:defRPr>
            </a:pPr>
            <a:r>
              <a:t>Unified Multi-Department Queue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Brings maintenance requests from Track, Electrical, and Signal teams into one shared digital system.</a:t>
            </a:r>
          </a:p>
          <a:p>
            <a:pPr algn="l">
              <a:defRPr sz="850" b="1">
                <a:solidFill>
                  <a:srgbClr val="F59E0B"/>
                </a:solidFill>
                <a:latin typeface="Calibri"/>
              </a:defRPr>
            </a:pPr>
            <a:r>
              <a:t>* Replaces scattered paper forms and phone calls with one clear view of all upcoming work.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4288536" y="3703320"/>
            <a:ext cx="36118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4425696" y="3840480"/>
            <a:ext cx="33375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2. SMART WORK BUNDLING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425696" y="4142232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F8FAFC"/>
                </a:solidFill>
                <a:latin typeface="Calibri"/>
              </a:defRPr>
            </a:pPr>
            <a:r>
              <a:t>Coordinated Multi-Job Scheduling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Our optimization engine groups compatible repair jobs in the same track section to run together.</a:t>
            </a:r>
          </a:p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* Enforces 500m safety buffers and guarantees overhead 25kV power cut before work starts.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8119872" y="3703320"/>
            <a:ext cx="36118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ounded Rectangle 15375"/>
          <p:cNvSpPr/>
          <p:nvPr/>
        </p:nvSpPr>
        <p:spPr>
          <a:xfrm>
            <a:off x="8257032" y="3840480"/>
            <a:ext cx="33375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3. TIMETABLE GAP MATCHING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8257032" y="4142232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F8FAFC"/>
                </a:solidFill>
                <a:latin typeface="Calibri"/>
              </a:defRPr>
            </a:pPr>
            <a:r>
              <a:t>Protecting Train Punctuality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Fits maintenance windows directly into natural time gaps between scheduled passenger and freight trains.</a:t>
            </a:r>
          </a:p>
          <a:p>
            <a:pPr algn="l">
              <a:defRPr sz="850" b="1">
                <a:solidFill>
                  <a:srgbClr val="10B981"/>
                </a:solidFill>
                <a:latin typeface="Calibri"/>
              </a:defRPr>
            </a:pPr>
            <a:r>
              <a:t>* Protects high-speed trains (Rajdhani, Vande Bharat) and keeps freight rakes moving.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TECHNICAL APPROACH: TECHNOLOGIES, METHODOLOGY &amp; PROTOTYPE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2651760" cy="2148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66928" y="1280160"/>
            <a:ext cx="2432304" cy="23774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LANGUAGES &amp; RUNTIME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536192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F8FAFC"/>
                </a:solidFill>
                <a:latin typeface="Calibri"/>
              </a:defRPr>
            </a:pPr>
            <a:r>
              <a:t>Python 3.11 LTS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Powers scheduling optimization, safety verification rules, and FastAPI backend.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F8FAFC"/>
                </a:solidFill>
                <a:latin typeface="Calibri"/>
              </a:defRPr>
            </a:pPr>
            <a:r>
              <a:t>TypeScript &amp; JavaScript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Delivers a fast, interactive, type-safe web dashboard for operators.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F59E0B"/>
                </a:solidFill>
                <a:latin typeface="Calibri"/>
              </a:defRPr>
            </a:pPr>
            <a:r>
              <a:t>Automated Scripting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Automated end-to-end verification and testing pipelines.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328416" y="1188720"/>
            <a:ext cx="2651760" cy="2148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3438144" y="1280160"/>
            <a:ext cx="2432304" cy="23774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FRAMEWORKS &amp; TOOLS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19856" y="1536192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F8FAFC"/>
                </a:solidFill>
                <a:latin typeface="Calibri"/>
              </a:defRPr>
            </a:pPr>
            <a:r>
              <a:t>FastAPI (Python)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High-speed async backend that handles live schedules and requests instantly.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F8FAFC"/>
                </a:solidFill>
                <a:latin typeface="Calibri"/>
              </a:defRPr>
            </a:pPr>
            <a:r>
              <a:t>React 19 + Tailwind CSS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Clean, responsive operator interface with dark-mode night-shift theme.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06B6D4"/>
                </a:solidFill>
                <a:latin typeface="Calibri"/>
              </a:defRPr>
            </a:pPr>
            <a:r>
              <a:t>Data &amp; Network Tools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Pydantic v2 schema validation and track connection graph models.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199632" y="1188720"/>
            <a:ext cx="2651760" cy="2148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309360" y="1280160"/>
            <a:ext cx="2432304" cy="23774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OPTIMIZATION &amp; LOGIC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291072" y="1536192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3B82F6"/>
                </a:solidFill>
                <a:latin typeface="Calibri"/>
              </a:defRPr>
            </a:pPr>
            <a:r>
              <a:t>Google OR-Tools CP-SAT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F8FAFC"/>
                </a:solidFill>
                <a:latin typeface="Calibri"/>
              </a:defRPr>
            </a:pPr>
            <a:r>
              <a:t>Mathematically searches thousands of schedule combinations in seconds to find the best plan.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F8FAFC"/>
                </a:solidFill>
                <a:latin typeface="Calibri"/>
              </a:defRPr>
            </a:pPr>
            <a:r>
              <a:t>Predictive Machine Learning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Estimates realistic job duration based on weather and equipment type.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EF4444"/>
                </a:solidFill>
                <a:latin typeface="Calibri"/>
              </a:defRPr>
            </a:pPr>
            <a:r>
              <a:t>Independent Safety Gate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Zero-hallucination code that verifies official railway safety rules (55 unit tests).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9070848" y="1188720"/>
            <a:ext cx="2651760" cy="2148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9180576" y="1280160"/>
            <a:ext cx="2432304" cy="23774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HARDWARE &amp; DEPLOYMENT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162288" y="1536192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F8FAFC"/>
                </a:solidFill>
                <a:latin typeface="Calibri"/>
              </a:defRPr>
            </a:pPr>
            <a:r>
              <a:t>Control Office Servers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Runs on standard railway division computers (Linux Ubuntu / Windows Server).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F8FAFC"/>
                </a:solidFill>
                <a:latin typeface="Calibri"/>
              </a:defRPr>
            </a:pPr>
            <a:r>
              <a:t>Operator Workstations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Dual-monitor dashboard for Section Controllers and Station Masters.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10B981"/>
                </a:solidFill>
                <a:latin typeface="Calibri"/>
              </a:defRPr>
            </a:pPr>
            <a:r>
              <a:t>Mobile Field Access</a:t>
            </a:r>
          </a:p>
          <a:p>
            <a:pPr algn="l">
              <a:spcAft>
                <a:spcPts val="200"/>
              </a:spcAft>
              <a:defRPr sz="750" b="0">
                <a:solidFill>
                  <a:srgbClr val="94A3B8"/>
                </a:solidFill>
                <a:latin typeface="Calibri"/>
              </a:defRPr>
            </a:pPr>
            <a:r>
              <a:t>Web access on handheld tablets/phones for supervisors at track sites.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57200" y="3456432"/>
            <a:ext cx="7498079" cy="2487168"/>
          </a:xfrm>
          <a:prstGeom prst="roundRect">
            <a:avLst/>
          </a:prstGeom>
          <a:solidFill>
            <a:srgbClr val="141B2D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594360" y="3547872"/>
            <a:ext cx="7223759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METHODOLOGY: 5-STEP OPERATIONAL IMPLEMENTATION PIPELINE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594360" y="3858768"/>
            <a:ext cx="7223759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58368" y="3913632"/>
            <a:ext cx="2194560" cy="2743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STAGE 1: GATHER DEMANDS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926080" y="3877056"/>
            <a:ext cx="4846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8FAFC"/>
                </a:solidFill>
                <a:latin typeface="Calibri"/>
              </a:defRPr>
            </a:pPr>
            <a:r>
              <a:t>Normalizes Track, Electrical, and Signal requests + public timetables into one shared format.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94360" y="4279392"/>
            <a:ext cx="7223759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658368" y="4334256"/>
            <a:ext cx="2194560" cy="2743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STAGE 2: ESTIMATE DURATION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926080" y="4297680"/>
            <a:ext cx="4846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8FAFC"/>
                </a:solidFill>
                <a:latin typeface="Calibri"/>
              </a:defRPr>
            </a:pPr>
            <a:r>
              <a:t>Machine learning predicts realistic job durations and flags urgent repairs based on past logs.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594360" y="4700016"/>
            <a:ext cx="7223759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ounded Rectangle 17431"/>
          <p:cNvSpPr/>
          <p:nvPr/>
        </p:nvSpPr>
        <p:spPr>
          <a:xfrm>
            <a:off x="658368" y="4754880"/>
            <a:ext cx="219456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STAGE 3: FIND OPTIMAL SCHEDULE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2926080" y="4718304"/>
            <a:ext cx="4846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8FAFC"/>
                </a:solidFill>
                <a:latin typeface="Calibri"/>
              </a:defRPr>
            </a:pPr>
            <a:r>
              <a:t>Google OR-Tools engine fits maintenance jobs into timetable gaps in under 3.5 seconds.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594360" y="5120640"/>
            <a:ext cx="7223759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658368" y="5175504"/>
            <a:ext cx="2194560" cy="2743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STAGE 4: INDEPENDENT SAFETY CHECK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2926080" y="5138928"/>
            <a:ext cx="4846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8FAFC"/>
                </a:solidFill>
                <a:latin typeface="Calibri"/>
              </a:defRPr>
            </a:pPr>
            <a:r>
              <a:t>Verifies Railway Safety Rules (G&amp;SR Ch. XV): enforces 500m buffer, power shut-off, and 15m train headway.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594360" y="5541264"/>
            <a:ext cx="7223759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658368" y="5596128"/>
            <a:ext cx="219456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STAGE 5: ISSUE NOTICES &amp; REPLAN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2926080" y="5559552"/>
            <a:ext cx="4846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8FAFC"/>
                </a:solidFill>
                <a:latin typeface="Calibri"/>
              </a:defRPr>
            </a:pPr>
            <a:r>
              <a:t>Generates Station Master Joint Block Notices, live train charts, and updates plan in &lt;0.5s if trains delay.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174736" y="3456432"/>
            <a:ext cx="3557016" cy="2487168"/>
          </a:xfrm>
          <a:prstGeom prst="roundRect">
            <a:avLst/>
          </a:prstGeom>
          <a:solidFill>
            <a:srgbClr val="1024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ounded Rectangle 17440"/>
          <p:cNvSpPr/>
          <p:nvPr/>
        </p:nvSpPr>
        <p:spPr>
          <a:xfrm>
            <a:off x="8311896" y="3547872"/>
            <a:ext cx="3282696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WORKING PROTOTYPE VERIFIED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311896" y="3858768"/>
            <a:ext cx="32826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10B981"/>
                </a:solidFill>
                <a:latin typeface="Calibri"/>
              </a:defRPr>
            </a:pPr>
            <a:r>
              <a:t>Full-Stack Working Application</a:t>
            </a:r>
          </a:p>
          <a:p>
            <a:pPr algn="l">
              <a:spcAft>
                <a:spcPts val="300"/>
              </a:spcAft>
              <a:defRPr sz="750" b="0">
                <a:solidFill>
                  <a:srgbClr val="F8FAFC"/>
                </a:solidFill>
                <a:latin typeface="Calibri"/>
              </a:defRPr>
            </a:pPr>
            <a:r>
              <a:t>* FastAPI Python backend connected to an interactive React 19 operational dashboard.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3B82F6"/>
                </a:solidFill>
                <a:latin typeface="Calibri"/>
              </a:defRPr>
            </a:pPr>
            <a:r>
              <a:t>Interactive Marey String Chart</a:t>
            </a:r>
          </a:p>
          <a:p>
            <a:pPr algn="l">
              <a:spcAft>
                <a:spcPts val="300"/>
              </a:spcAft>
              <a:defRPr sz="750" b="0">
                <a:solidFill>
                  <a:srgbClr val="F8FAFC"/>
                </a:solidFill>
                <a:latin typeface="Calibri"/>
              </a:defRPr>
            </a:pPr>
            <a:r>
              <a:t>* Section-by-section dynamic space-time visualization with live conflict detection.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06B6D4"/>
                </a:solidFill>
                <a:latin typeface="Calibri"/>
              </a:defRPr>
            </a:pPr>
            <a:r>
              <a:t>Live Delay Simulator</a:t>
            </a:r>
          </a:p>
          <a:p>
            <a:pPr algn="l">
              <a:spcAft>
                <a:spcPts val="300"/>
              </a:spcAft>
              <a:defRPr sz="750" b="0">
                <a:solidFill>
                  <a:srgbClr val="F8FAFC"/>
                </a:solidFill>
                <a:latin typeface="Calibri"/>
              </a:defRPr>
            </a:pPr>
            <a:r>
              <a:t>* Simulates train delays and executes local rolling-horizon replanning in under 0.5s.</a:t>
            </a:r>
          </a:p>
          <a:p>
            <a:pPr algn="l">
              <a:spcAft>
                <a:spcPts val="100"/>
              </a:spcAft>
              <a:defRPr sz="750" b="1">
                <a:solidFill>
                  <a:srgbClr val="F59E0B"/>
                </a:solidFill>
                <a:latin typeface="Calibri"/>
              </a:defRPr>
            </a:pPr>
            <a:r>
              <a:t>55 Passing Automated Tests</a:t>
            </a:r>
          </a:p>
          <a:p>
            <a:pPr algn="l">
              <a:spcAft>
                <a:spcPts val="300"/>
              </a:spcAft>
              <a:defRPr sz="750" b="0">
                <a:solidFill>
                  <a:srgbClr val="F8FAFC"/>
                </a:solidFill>
                <a:latin typeface="Calibri"/>
              </a:defRPr>
            </a:pPr>
            <a:r>
              <a:t>* 100% test coverage across solver optimization, safety checks, and API endpoints.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FEASIBILITY, RISK AUDIT &amp; RESILIENT DEPLOYMENT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11274552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298448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8FAFC"/>
                </a:solidFill>
                <a:latin typeface="Calibri"/>
              </a:defRPr>
            </a:pPr>
            <a:r>
              <a:t>DATA ACCESS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1536192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Live Indian Railways internal systems are restricted and not directly connected to external apps.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3657600" y="1280160"/>
            <a:ext cx="18288" cy="6858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3840480" y="1298448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Architectural Mitigation &amp; Resilience Strategy:</a:t>
            </a:r>
          </a:p>
          <a:p>
            <a:pPr algn="l">
              <a:defRPr sz="800" b="0">
                <a:solidFill>
                  <a:srgbClr val="F8FAFC"/>
                </a:solidFill>
                <a:latin typeface="Calibri"/>
              </a:defRPr>
            </a:pPr>
            <a:r>
              <a:t>Universal Schema Ingestion: Works with standard spreadsheets (Excel/CSV) and public timetables today, and connects via standard APIs whenever Indian Railways connects internal systems (COA/TMS).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784080" y="1463040"/>
            <a:ext cx="173736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FEASIBLE &amp; READY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2130552"/>
            <a:ext cx="11274552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594360" y="2240280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8FAFC"/>
                </a:solidFill>
                <a:latin typeface="Calibri"/>
              </a:defRPr>
            </a:pPr>
            <a:r>
              <a:t>HEAVY TRAFFIC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94360" y="247802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During peak rush hours, dense train traffic leaves zero gaps for all requested repairs.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3657600" y="2221992"/>
            <a:ext cx="18288" cy="6858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3840480" y="224028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Architectural Mitigation &amp; Resilience Strategy:</a:t>
            </a:r>
          </a:p>
          <a:p>
            <a:pPr algn="l">
              <a:defRPr sz="800" b="0">
                <a:solidFill>
                  <a:srgbClr val="F8FAFC"/>
                </a:solidFill>
                <a:latin typeface="Calibri"/>
              </a:defRPr>
            </a:pPr>
            <a:r>
              <a:t>Tiered Relaxation Hierarchy: Prioritizes critical safety repairs, safely defers routine low-priority jobs with an official audit log, and strictly maintains all safety buffers.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784080" y="2404872"/>
            <a:ext cx="173736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ROBUST &amp; PROVEN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57200" y="3072384"/>
            <a:ext cx="11274552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594360" y="3182112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8FAFC"/>
                </a:solidFill>
                <a:latin typeface="Calibri"/>
              </a:defRPr>
            </a:pPr>
            <a:r>
              <a:t>REAL-TIME DELAYS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341985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A freight train running 45 minutes late ruins the pre-planned maintenance schedule.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3657600" y="3163824"/>
            <a:ext cx="18288" cy="6858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3840480" y="3182112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Architectural Mitigation &amp; Resilience Strategy:</a:t>
            </a:r>
          </a:p>
          <a:p>
            <a:pPr algn="l">
              <a:defRPr sz="800" b="0">
                <a:solidFill>
                  <a:srgbClr val="F8FAFC"/>
                </a:solidFill>
                <a:latin typeface="Calibri"/>
              </a:defRPr>
            </a:pPr>
            <a:r>
              <a:t>Fast Local Replanner: Instead of recalculating the entire division, SETU recalculates just the affected local track section in under 0.5 seconds.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784080" y="3346704"/>
            <a:ext cx="1737360" cy="3200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&lt;0.5s LATENCY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57200" y="4069080"/>
            <a:ext cx="11274552" cy="16916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640080" y="4178808"/>
            <a:ext cx="10908792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8FAFC"/>
                </a:solidFill>
                <a:latin typeface="Calibri"/>
              </a:defRPr>
            </a:pPr>
            <a:r>
              <a:t>STEPWISE ADOPTION ROADMAP: ZERO DISRUPTION TO RUNNING TRAFFIC OPERATIONS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40080" y="4507992"/>
            <a:ext cx="347472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731520" y="45445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F59E0B"/>
                </a:solidFill>
                <a:latin typeface="Calibri"/>
              </a:defRPr>
            </a:pPr>
            <a:r>
              <a:t>PHASE 1: SMART ADVISORY MODE</a:t>
            </a:r>
          </a:p>
          <a:p>
            <a:pPr algn="l">
              <a:defRPr sz="750" b="1">
                <a:solidFill>
                  <a:srgbClr val="F8FAFC"/>
                </a:solidFill>
                <a:latin typeface="Calibri"/>
              </a:defRPr>
            </a:pPr>
            <a:r>
              <a:t>* Runs on a screen beside the Section Controller in the divisional control room.</a:t>
            </a:r>
          </a:p>
          <a:p>
            <a:pPr algn="l">
              <a:defRPr sz="750" b="0">
                <a:solidFill>
                  <a:srgbClr val="94A3B8"/>
                </a:solidFill>
                <a:latin typeface="Calibri"/>
              </a:defRPr>
            </a:pPr>
            <a:r>
              <a:t>* Recommends optimal windows; Section Controller retains 100% manual control to approve or reject.</a:t>
            </a:r>
          </a:p>
          <a:p>
            <a:pPr algn="l">
              <a:defRPr sz="750" b="0">
                <a:solidFill>
                  <a:srgbClr val="10B981"/>
                </a:solidFill>
                <a:latin typeface="Calibri"/>
              </a:defRPr>
            </a:pPr>
            <a:r>
              <a:t>* Zero operational risk to running trains; proves reliability against real-world operational logs.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352544" y="4507992"/>
            <a:ext cx="347472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4443984" y="45445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3B82F6"/>
                </a:solidFill>
                <a:latin typeface="Calibri"/>
              </a:defRPr>
            </a:pPr>
            <a:r>
              <a:t>PHASE 2: DIVISION PILOT</a:t>
            </a:r>
          </a:p>
          <a:p>
            <a:pPr algn="l">
              <a:defRPr sz="750" b="1">
                <a:solidFill>
                  <a:srgbClr val="F8FAFC"/>
                </a:solidFill>
                <a:latin typeface="Calibri"/>
              </a:defRPr>
            </a:pPr>
            <a:r>
              <a:t>* Controlled trial run on a single high-density double-line section (Kanpur-Prayagraj).</a:t>
            </a:r>
          </a:p>
          <a:p>
            <a:pPr algn="l">
              <a:defRPr sz="750" b="0">
                <a:solidFill>
                  <a:srgbClr val="94A3B8"/>
                </a:solidFill>
                <a:latin typeface="Calibri"/>
              </a:defRPr>
            </a:pPr>
            <a:r>
              <a:t>* Section Controllers digitally approve combined windows with track workers confirming via tablet.</a:t>
            </a:r>
          </a:p>
          <a:p>
            <a:pPr algn="l">
              <a:defRPr sz="750" b="0">
                <a:solidFill>
                  <a:srgbClr val="3B82F6"/>
                </a:solidFill>
                <a:latin typeface="Calibri"/>
              </a:defRPr>
            </a:pPr>
            <a:r>
              <a:t>* Tracks actual track hours saved and train punctuality improvements.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065008" y="4507992"/>
            <a:ext cx="347472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8156448" y="45445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10B981"/>
                </a:solidFill>
                <a:latin typeface="Calibri"/>
              </a:defRPr>
            </a:pPr>
            <a:r>
              <a:t>PHASE 3: ENTERPRISE INTEGRATION</a:t>
            </a:r>
          </a:p>
          <a:p>
            <a:pPr algn="l">
              <a:defRPr sz="750" b="1">
                <a:solidFill>
                  <a:srgbClr val="F8FAFC"/>
                </a:solidFill>
                <a:latin typeface="Calibri"/>
              </a:defRPr>
            </a:pPr>
            <a:r>
              <a:t>* Direct bi-directional API link with Indian Railways Control Office Application (COA).</a:t>
            </a:r>
          </a:p>
          <a:p>
            <a:pPr algn="l">
              <a:defRPr sz="750" b="0">
                <a:solidFill>
                  <a:srgbClr val="94A3B8"/>
                </a:solidFill>
                <a:latin typeface="Calibri"/>
              </a:defRPr>
            </a:pPr>
            <a:r>
              <a:t>* Fully automated block negotiation between Engineering, Electrical, and Signal departments.</a:t>
            </a:r>
          </a:p>
          <a:p>
            <a:pPr algn="l">
              <a:defRPr sz="750" b="0">
                <a:solidFill>
                  <a:srgbClr val="10B981"/>
                </a:solidFill>
                <a:latin typeface="Calibri"/>
              </a:defRPr>
            </a:pPr>
            <a:r>
              <a:t>* Network-wide deployment across Indian Railways Golden Quadrilateral trunk routes.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IMPACT AND BENEFITS: QUANTIFIED OPERATIONAL &amp; SAFETY GAINS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11274552" cy="292608"/>
          </a:xfrm>
          <a:prstGeom prst="roundRect">
            <a:avLst/>
          </a:prstGeom>
          <a:solidFill>
            <a:srgbClr val="18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3B82F6"/>
                </a:solidFill>
                <a:latin typeface="Calibri"/>
              </a:defRPr>
            </a:pPr>
            <a:r>
              <a:t>BENCHMARKED ON 433.5 KM ARTERIAL CORRIDOR SIMULATION (Delhi-Kanpur | 140+ Trains/Day | 18 Multi-Dept Orders)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9E0B"/>
                </a:solidFill>
                <a:latin typeface="Calibri"/>
              </a:defRPr>
            </a:pPr>
            <a:r>
              <a:t>-38.9%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TRACK SHUTDOWN TIME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Total track closure reduced from 34.6 hours down to 21.1 hours across corridor.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28416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3419856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82F6"/>
                </a:solidFill>
                <a:latin typeface="Calibri"/>
              </a:defRPr>
            </a:pPr>
            <a:r>
              <a:t>+810 MIN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419856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LINE CAPACITY SAVED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Over 13 hours of extra track time returned to running passenger and freight trains.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99632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291072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1,420 L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291072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DIESEL FUEL SAVED / DAY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Freight trains spend less time waiting with engines idling (~3.8t CO2 cut daily).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070848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9162288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6B6D4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162288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SAFETY BREACHES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100% adherence to G&amp;SR Chapter XV distance buffers and power isolation rules.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57200" y="3154680"/>
            <a:ext cx="3611880" cy="2606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594360" y="3264408"/>
            <a:ext cx="333756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PASSENGER &amp; SOCIAL GAINS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94360" y="356616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On-Time Passenger Trains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Eliminates sudden stops outside stations caused by uncoordinated track repairs.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Smoother Journeys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Regular, guaranteed tamping machine windows prevent severe speed restrictions (TSRs).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Reliable Travel Times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Predictable arrival times for daily commuters and long-distance passengers.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288536" y="3154680"/>
            <a:ext cx="3611880" cy="2606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425696" y="3264408"/>
            <a:ext cx="33375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FREIGHT &amp; FINANCIAL SAVINGS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425696" y="356616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Faster Freight Movement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High-value container and bulk goods rakes move through corridors without getting sidelined.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Better Machine Usage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Maximizes work output per working hour for expensive track tampers and OHE ladder cars.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Lower Operating Costs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Less fuel wasted on idling locomotives and fewer unproductive track possession penalties.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8119872" y="3154680"/>
            <a:ext cx="3611880" cy="2606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8257032" y="3264408"/>
            <a:ext cx="33375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WORKER SAFETY &amp; TRANSPARENCY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257032" y="356616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Guaranteed Electrical Isolation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TRD power block lockout prevents electrocution risks for ground crews working near rails.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Better Department Teamwork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Eliminates finger-pointing and coordination disputes between Track, Electrical, and Signal teams.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Clear Digital Records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Complete regulatory transparency and digital audit trails for every block request and approval.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RESEARCH, CITATIONS &amp; CODEBASE REPRODUCIBILITY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298448"/>
            <a:ext cx="333756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1. RAILWAY SAFETY STANDARDS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1600200"/>
            <a:ext cx="33375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Indian Railways G&amp;SR Rulebook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General &amp; Subsidiary Rules — Chapter XV rules for track protection and maintenance safety.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RDSO Track Machine Guidelines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Comprehensive norms on machine productivity, maintenance tolerances &amp; headway buffer clearances (IRICEN).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Speed Restriction Manuals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Official regulations governing temporary speed restrictions (TSRs) following mechanized maintenance.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88536" y="118872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425696" y="1298448"/>
            <a:ext cx="33375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2. OPTIMIZATION RESEARCH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425696" y="1600200"/>
            <a:ext cx="33375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Google OR-Tools CP-SAT Solver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Laurent Perron &amp; Frederic Didier (Google Operations Research): Constraint Programming for complex scheduling.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Railway Scheduling Theory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Caimi, Fuchsberger, Burkolter (ETH Zurich): Periodic Timetable Conflict Resolution in Dense Rail Networks.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Real-Time Rescheduling Methods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Multi-stage rolling horizon optimization frameworks for dynamic network disruption handling.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19872" y="118872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8257032" y="1298448"/>
            <a:ext cx="33375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3. RAILWAY TIMETABLES &amp; DATA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257032" y="1600200"/>
            <a:ext cx="33375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National Train Enquiry System (NTES)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Authentic public train arrival, departure, and section running intervals.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Freight Operations Info System (FOIS)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Standard goods train headway allocations, rake turnover norms, and bulk freight priorities.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Delhi-Kanpur 433.5 km Benchmark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Authentic double-line arterial corridor model with 6 major stations and 140+ daily scheduled trains.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57200" y="3657600"/>
            <a:ext cx="11274552" cy="2103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1" name="Picture 17420" descr="setu_repo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86200"/>
            <a:ext cx="1645920" cy="1645920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548640" y="5440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06B6D4"/>
                </a:solidFill>
                <a:latin typeface="Calibri"/>
              </a:defRPr>
            </a:pPr>
            <a:r>
              <a:t>SCAN TO INSPECT REPO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2743200" y="3840480"/>
            <a:ext cx="8778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10B981"/>
                </a:solidFill>
                <a:latin typeface="Calibri"/>
              </a:defRPr>
            </a:pPr>
            <a:r>
              <a:t>LIVE CODEBASE &amp; SIMULATION VERIFICATION SUMMARY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55 / 55 Unit &amp; Integration Tests Passing — Complete test coverage across solver optimization, safety checks, and API endpoints.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Full-Stack Python &amp; React Application — Fast, reliable FastAPI backend paired with interactive operational dashboard.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Interactive Marey String Chart Included — Section-by-section dynamic space-time visualization with live conflict detection.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Delhi-Kanpur Corridor Dataset Reproducible — Complete 433.5 km benchmark included in repository for independent review.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