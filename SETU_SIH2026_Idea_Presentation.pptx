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PROBLEM STATEMENT ID: SIH26027</a:t>
            </a:r>
            <a:endParaRPr lang="en-US" dirty="0"/>
          </a:p>
          <a:p>
            <a:pPr algn="l">
              <a:spcAft>
                <a:spcPts val="6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Problem Title: Integrated AI Block Planning for Railway Engineering, Traction Distribution &amp; S&amp;T Maintenance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Official Theme: Smart Transportation / Infrastructure / Railways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PS Category: Software | Target: Ministry of Railways (Indian Railways)</a:t>
            </a:r>
          </a:p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Team ID: [Registered Team ID]   |   Team Name: [Registered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217920" y="1645920"/>
            <a:ext cx="54864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40" y="1828800"/>
            <a:ext cx="49377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CORE PARADIGM: CROSS-DEPARTMENT SHADOW CONVOYS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2286000"/>
            <a:ext cx="4937760" cy="14630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0" y="2377440"/>
            <a:ext cx="4754880" cy="228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  <a:latin typeface="Calibri"/>
              </a:defRPr>
            </a:pPr>
            <a:r>
              <a:t>CURRENT PRACTICE: 3 DISJOINTED TRACK SHUTDOWNS (14.2h Lost)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2670048"/>
            <a:ext cx="2011680" cy="21945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8FAFC"/>
                </a:solidFill>
                <a:latin typeface="Calibri"/>
              </a:defRPr>
            </a:pPr>
            <a:r>
              <a:t>Track (P-Way): 09:00 - 12:00 (180m)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0" y="2670048"/>
            <a:ext cx="1554480" cy="21945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8FAFC"/>
                </a:solidFill>
                <a:latin typeface="Calibri"/>
              </a:defRPr>
            </a:pPr>
            <a:r>
              <a:t>TRD (OHE): 13:30 - 15:30 (120m)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20" y="2670048"/>
            <a:ext cx="1005840" cy="21945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8FAFC"/>
                </a:solidFill>
                <a:latin typeface="Calibri"/>
              </a:defRPr>
            </a:pPr>
            <a:r>
              <a:t>S&amp;T: 16:30 (90m)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2926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3 Separate Traffic Halts | Repeated Speed Restrictions | Compounded Freight Stagnation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794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Calibri"/>
              </a:defRPr>
            </a:pPr>
            <a:r>
              <a:t>v   SETU CP-SAT BUNDLING &amp; DETERMINISTIC SAFETY GATE   v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160520"/>
            <a:ext cx="4937760" cy="1600200"/>
          </a:xfrm>
          <a:prstGeom prst="roundRect">
            <a:avLst/>
          </a:prstGeom>
          <a:solidFill>
            <a:srgbClr val="1024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0" y="4251960"/>
            <a:ext cx="475488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  <a:latin typeface="Calibri"/>
              </a:defRPr>
            </a:pPr>
            <a:r>
              <a:t>SETU REVOLUTION: 1 UNIFIED SHADOW CONVOY WINDOW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4572000"/>
            <a:ext cx="4754880" cy="502920"/>
          </a:xfrm>
          <a:prstGeom prst="roundRect">
            <a:avLst/>
          </a:prstGeom>
          <a:solidFill>
            <a:srgbClr val="0A14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75120" y="4626864"/>
            <a:ext cx="3657600" cy="1645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8FAFC"/>
                </a:solidFill>
                <a:latin typeface="Calibri"/>
              </a:defRPr>
            </a:pPr>
            <a:r>
              <a:t>ENG: CSM Tamping Machine (Km 102.0 - 104.5)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49440" y="4809744"/>
            <a:ext cx="2926080" cy="1645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8FAFC"/>
                </a:solidFill>
                <a:latin typeface="Calibri"/>
              </a:defRPr>
            </a:pPr>
            <a:r>
              <a:t>TRD: Catenary Tower Car (Km 102.5 - 104.0) [Certified 25kV Cut]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4809744"/>
            <a:ext cx="2011680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8FAFC"/>
                </a:solidFill>
                <a:latin typeface="Calibri"/>
              </a:defRPr>
            </a:pPr>
            <a:r>
              <a:t>S&amp;T: Point Testing (Km 104.2)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120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  <a:latin typeface="Calibri"/>
              </a:defRPr>
            </a:pPr>
            <a:r>
              <a:t>1 Single Integrated Window (210 min)  |  180 min Track Time Returned to Traffic</a:t>
            </a:r>
          </a:p>
          <a:p>
            <a:pPr algn="ctr">
              <a:defRPr sz="750" b="0">
                <a:solidFill>
                  <a:srgbClr val="94A3B8"/>
                </a:solidFill>
                <a:latin typeface="Calibri"/>
              </a:defRPr>
            </a:pPr>
            <a:r>
              <a:t>Zero passenger train disruption  *  100% G&amp;SR safety clearance buffers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0070C0"/>
                </a:solidFill>
                <a:latin typeface="Calibri"/>
              </a:defRPr>
            </a:pPr>
            <a:r>
              <a:t>PROPOSED SOLUTION: CROSS-DEPARTMENT SHADOW CONVOY ENGINE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91440000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57200" y="1188720"/>
            <a:ext cx="438912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640080" y="1325880"/>
            <a:ext cx="402336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CURRENT REALITY: DEPARTMENTAL SILOS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40080" y="1691640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50" b="0">
                <a:solidFill>
                  <a:srgbClr val="F59E0B"/>
                </a:solidFill>
                <a:latin typeface="Calibri"/>
              </a:defRPr>
            </a:pPr>
            <a:r>
              <a:t>* Civil Eng (Track): Submits 09:00-12:00 block -&gt; 180 min track closure</a:t>
            </a:r>
          </a:p>
          <a:p>
            <a:pPr algn="l">
              <a:spcAft>
                <a:spcPts val="400"/>
              </a:spcAft>
              <a:defRPr sz="950" b="0">
                <a:solidFill>
                  <a:srgbClr val="06B6D4"/>
                </a:solidFill>
                <a:latin typeface="Calibri"/>
              </a:defRPr>
            </a:pPr>
            <a:r>
              <a:t>* TRD (OHE): Submits 13:30-15:30 block -&gt; 120 min track closure</a:t>
            </a:r>
          </a:p>
          <a:p>
            <a:pPr algn="l">
              <a:spcAft>
                <a:spcPts val="800"/>
              </a:spcAft>
              <a:defRPr sz="950" b="0">
                <a:solidFill>
                  <a:srgbClr val="10B981"/>
                </a:solidFill>
                <a:latin typeface="Calibri"/>
              </a:defRPr>
            </a:pPr>
            <a:r>
              <a:t>* S&amp;T (Signals): Submits 16:30-18:00 block -&gt; 90 min track closure</a:t>
            </a:r>
          </a:p>
          <a:p>
            <a:pPr algn="l">
              <a:defRPr sz="950" b="1">
                <a:solidFill>
                  <a:srgbClr val="EF4444"/>
                </a:solidFill>
                <a:latin typeface="Calibri"/>
              </a:defRPr>
            </a:pPr>
            <a:r>
              <a:t>BOTTLENECK: 3 Separate Track Closures (390 min total lost). Section controllers juggle paper forms. Freight held at outer loops.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5029200" y="1188720"/>
            <a:ext cx="6702552" cy="2377440"/>
          </a:xfrm>
          <a:prstGeom prst="roundRect">
            <a:avLst/>
          </a:prstGeom>
          <a:solidFill>
            <a:srgbClr val="10243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5212080" y="1325880"/>
            <a:ext cx="6336792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Calibri"/>
              </a:defRPr>
            </a:pPr>
            <a:r>
              <a:t>THE SETU REVOLUTION: SYNCHRONIZED SHADOW CONVOY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212080" y="1691640"/>
            <a:ext cx="6336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50" b="1">
                <a:solidFill>
                  <a:srgbClr val="10B981"/>
                </a:solidFill>
                <a:latin typeface="Calibri"/>
              </a:defRPr>
            </a:pPr>
            <a:r>
              <a:t>UNIFIED PROTECTED CORRIDOR WINDOW: 11:00 - 14:30 (210 min active possession)</a:t>
            </a:r>
          </a:p>
          <a:p>
            <a:pPr algn="l">
              <a:spcAft>
                <a:spcPts val="3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* Eng: Tamping Machine operates Km 102.0 to 104.5 (P-Way output maximized)</a:t>
            </a:r>
          </a:p>
          <a:p>
            <a:pPr algn="l">
              <a:spcAft>
                <a:spcPts val="3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* TRD: OHE Ladder Car operates Km 102.5 to 104.0 under certified 25kV power cut</a:t>
            </a:r>
          </a:p>
          <a:p>
            <a:pPr algn="l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* S&amp;T: Interlocking Point Machine tested concurrently at Km 104.2 crossover</a:t>
            </a:r>
          </a:p>
          <a:p>
            <a:pPr algn="l">
              <a:defRPr sz="950" b="1">
                <a:solidFill>
                  <a:srgbClr val="3B82F6"/>
                </a:solidFill>
                <a:latin typeface="Calibri"/>
              </a:defRPr>
            </a:pPr>
            <a:r>
              <a:t>RESULT: 1 Single Corridor Closure instead of 3. Saved 180 min of active track time. Headways preserved for Rajdhani &amp; container freight rakes.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3703320"/>
            <a:ext cx="3611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594360" y="3840480"/>
            <a:ext cx="333756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1. SHARED ASSET DEMAND LEDGER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594360" y="4142232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8FAFC"/>
                </a:solidFill>
                <a:latin typeface="Calibri"/>
              </a:defRPr>
            </a:pPr>
            <a:r>
              <a:t>Unified Multi-Dept Ingestion</a:t>
            </a:r>
          </a:p>
          <a:p>
            <a:pPr algn="l">
              <a:spcAft>
                <a:spcPts val="3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Ingests pending maintenance work orders from Civil Eng, TRD, and S&amp;T into a single standardized operational queue.</a:t>
            </a:r>
          </a:p>
          <a:p>
            <a:pPr algn="l">
              <a:defRPr sz="850" b="1">
                <a:solidFill>
                  <a:srgbClr val="F59E0B"/>
                </a:solidFill>
                <a:latin typeface="Calibri"/>
              </a:defRPr>
            </a:pPr>
            <a:r>
              <a:t>* Replaces fragmented paper &amp; phone requests with unified spatio-temporal state.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288536" y="3703320"/>
            <a:ext cx="3611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Rounded Rectangle 15372"/>
          <p:cNvSpPr/>
          <p:nvPr/>
        </p:nvSpPr>
        <p:spPr>
          <a:xfrm>
            <a:off x="4425696" y="3840480"/>
            <a:ext cx="333756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2. SPATIO-TEMPORAL CONVOY PACKING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425696" y="4142232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8FAFC"/>
                </a:solidFill>
                <a:latin typeface="Calibri"/>
              </a:defRPr>
            </a:pPr>
            <a:r>
              <a:t>Google OR-Tools CP-SAT Bundling</a:t>
            </a:r>
          </a:p>
          <a:p>
            <a:pPr algn="l">
              <a:spcAft>
                <a:spcPts val="3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Algorithmically discovers compatible multi-department tasks on the same track segment. Enforces 500m safety clearance buffers.</a:t>
            </a:r>
          </a:p>
          <a:p>
            <a:pPr algn="l">
              <a:defRPr sz="850" b="1">
                <a:solidFill>
                  <a:srgbClr val="3B82F6"/>
                </a:solidFill>
                <a:latin typeface="Calibri"/>
              </a:defRPr>
            </a:pPr>
            <a:r>
              <a:t>* Guarantees OHE 25kV de-energization window strictly encloses ground maintenance.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8119872" y="3703320"/>
            <a:ext cx="36118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8257032" y="3840480"/>
            <a:ext cx="333756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3. TIMETABLE MARGIN INTEGRATION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257032" y="4142232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8FAFC"/>
                </a:solidFill>
                <a:latin typeface="Calibri"/>
              </a:defRPr>
            </a:pPr>
            <a:r>
              <a:t>Corridor Headway Awareness</a:t>
            </a:r>
          </a:p>
          <a:p>
            <a:pPr algn="l">
              <a:spcAft>
                <a:spcPts val="3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Snaps joint possession envelopes into natural timetable white margins between scheduled passenger and freight trains.</a:t>
            </a:r>
          </a:p>
          <a:p>
            <a:pPr algn="l">
              <a:defRPr sz="850" b="1">
                <a:solidFill>
                  <a:srgbClr val="10B981"/>
                </a:solidFill>
                <a:latin typeface="Calibri"/>
              </a:defRPr>
            </a:pPr>
            <a:r>
              <a:t>* Eliminates unscheduled passenger stops at outer home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70C0"/>
                </a:solidFill>
                <a:latin typeface="Calibri"/>
              </a:defRPr>
            </a:pPr>
            <a:r>
              <a:t>TECHNICAL APPROACH: TECHNOLOGIES, METHODOLOGY &amp; PROTOTYPE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14400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188720"/>
            <a:ext cx="2651760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66928" y="1280160"/>
            <a:ext cx="2432304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  <a:latin typeface="Calibri"/>
              </a:defRPr>
            </a:pPr>
            <a:r>
              <a:t>LANGUAGES &amp; RUNTIME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536192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F8FAFC"/>
                </a:solidFill>
                <a:latin typeface="Calibri"/>
              </a:defRPr>
            </a:pPr>
            <a:r>
              <a:t>Python 3.11 LTS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Optimization solver core, constraint formulation, G&amp;SR safety audit, FastAPI backend.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F8FAFC"/>
                </a:solidFill>
                <a:latin typeface="Calibri"/>
              </a:defRPr>
            </a:pPr>
            <a:r>
              <a:t>TypeScript 5.x / ES2024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Type-safe interactive dashboard, modular React components, client state engine.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F59E0B"/>
                </a:solidFill>
                <a:latin typeface="Calibri"/>
              </a:defRPr>
            </a:pPr>
            <a:r>
              <a:t>Bash / PowerShell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Automated test runner &amp; CI/CD reproduction.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328416" y="1188720"/>
            <a:ext cx="2651760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3438144" y="1280160"/>
            <a:ext cx="2432304" cy="23774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  <a:latin typeface="Calibri"/>
              </a:defRPr>
            </a:pPr>
            <a:r>
              <a:t>FRAMEWORKS &amp; LIBRARIES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419856" y="1536192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F8FAFC"/>
                </a:solidFill>
                <a:latin typeface="Calibri"/>
              </a:defRPr>
            </a:pPr>
            <a:r>
              <a:t>FastAPI (Python)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High-throughput async REST API, auto OpenAPI specs.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F8FAFC"/>
                </a:solidFill>
                <a:latin typeface="Calibri"/>
              </a:defRPr>
            </a:pPr>
            <a:r>
              <a:t>React 19 + Vite + Tailwind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Sub-second HMR, modular UI cards, dark theme styling.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06B6D4"/>
                </a:solidFill>
                <a:latin typeface="Calibri"/>
              </a:defRPr>
            </a:pPr>
            <a:r>
              <a:t>Pydantic v2 &amp; NetworkX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Strict schema validation &amp; 1-hop network graph topology.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99632" y="1188720"/>
            <a:ext cx="2651760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6309360" y="1280160"/>
            <a:ext cx="2432304" cy="23774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  <a:latin typeface="Calibri"/>
              </a:defRPr>
            </a:pPr>
            <a:r>
              <a:t>OPTIMIZATION &amp; AI/ML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291072" y="1536192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3B82F6"/>
                </a:solidFill>
                <a:latin typeface="Calibri"/>
              </a:defRPr>
            </a:pPr>
            <a:r>
              <a:t>Google OR-Tools CP-SAT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F8FAFC"/>
                </a:solidFill>
                <a:latin typeface="Calibri"/>
              </a:defRPr>
            </a:pPr>
            <a:r>
              <a:t>Constraint Programming with SAT solving for multi-knapsack interval scheduling.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F8FAFC"/>
                </a:solidFill>
                <a:latin typeface="Calibri"/>
              </a:defRPr>
            </a:pPr>
            <a:r>
              <a:t>scikit-learn (Regression)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Task duration variance &amp; overrun risk forecasting.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EF4444"/>
                </a:solidFill>
                <a:latin typeface="Calibri"/>
              </a:defRPr>
            </a:pPr>
            <a:r>
              <a:t>Deterministic Rule Engine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Zero-hallucination G&amp;SR safety gate (55 unit tests).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070848" y="1188720"/>
            <a:ext cx="2651760" cy="2148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9180576" y="1280160"/>
            <a:ext cx="2432304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  <a:latin typeface="Calibri"/>
              </a:defRPr>
            </a:pPr>
            <a:r>
              <a:t>HARDWARE &amp; DEPLOYMENT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162288" y="1536192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F8FAFC"/>
                </a:solidFill>
                <a:latin typeface="Calibri"/>
              </a:defRPr>
            </a:pPr>
            <a:r>
              <a:t>Divisional On-Prem Server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Linux Ubuntu 22.04 LTS, containerized Docker microservices.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F8FAFC"/>
                </a:solidFill>
                <a:latin typeface="Calibri"/>
              </a:defRPr>
            </a:pPr>
            <a:r>
              <a:t>Operator Workstations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Dual-monitor Section Controller &amp; Station Master terminals.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10B981"/>
                </a:solidFill>
                <a:latin typeface="Calibri"/>
              </a:defRPr>
            </a:pPr>
            <a:r>
              <a:t>Rugged Field PWA &amp; Redis</a:t>
            </a:r>
          </a:p>
          <a:p>
            <a:pPr algn="l">
              <a:spcAft>
                <a:spcPts val="200"/>
              </a:spcAft>
              <a:defRPr sz="750" b="0">
                <a:solidFill>
                  <a:srgbClr val="94A3B8"/>
                </a:solidFill>
                <a:latin typeface="Calibri"/>
              </a:defRPr>
            </a:pPr>
            <a:r>
              <a:t>Handheld worker portal; Redis sub-second replan cache.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3456432"/>
            <a:ext cx="7498079" cy="2487168"/>
          </a:xfrm>
          <a:prstGeom prst="roundRect">
            <a:avLst/>
          </a:prstGeom>
          <a:solidFill>
            <a:srgbClr val="141B2D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3547872"/>
            <a:ext cx="7223759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METHODOLOGY: 5-STAGE OPERATIONAL IMPLEMENTATION PIPELINE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858768"/>
            <a:ext cx="7223759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58368" y="3913632"/>
            <a:ext cx="219456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8FAFC"/>
                </a:solidFill>
                <a:latin typeface="Calibri"/>
              </a:defRPr>
            </a:pPr>
            <a:r>
              <a:t>STAGE 1: DATA INGESTION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926080" y="3877056"/>
            <a:ext cx="4846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8FAFC"/>
                </a:solidFill>
                <a:latin typeface="Calibri"/>
              </a:defRPr>
            </a:pPr>
            <a:r>
              <a:t>Normalizes Eng/TRD/S&amp;T work orders + NTES passenger timetables into unified JSON schema.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94360" y="4279392"/>
            <a:ext cx="7223759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658368" y="4334256"/>
            <a:ext cx="2194560" cy="2743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8FAFC"/>
                </a:solidFill>
                <a:latin typeface="Calibri"/>
              </a:defRPr>
            </a:pPr>
            <a:r>
              <a:t>STAGE 2: ML DURATION ESTIMATION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2926080" y="4297680"/>
            <a:ext cx="4846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8FAFC"/>
                </a:solidFill>
                <a:latin typeface="Calibri"/>
              </a:defRPr>
            </a:pPr>
            <a:r>
              <a:t>Predicts task duration variance based on machine type, weather, and historical delay logs.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594360" y="4700016"/>
            <a:ext cx="7223759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658368" y="4754880"/>
            <a:ext cx="219456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8FAFC"/>
                </a:solidFill>
                <a:latin typeface="Calibri"/>
              </a:defRPr>
            </a:pPr>
            <a:r>
              <a:t>STAGE 3: CP-SAT OPTIMIZATION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2926080" y="4718304"/>
            <a:ext cx="4846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8FAFC"/>
                </a:solidFill>
                <a:latin typeface="Calibri"/>
              </a:defRPr>
            </a:pPr>
            <a:r>
              <a:t>Google OR-Tools bundles compatible orders into corridor white margins (&lt;3.5s solve time).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94360" y="5120640"/>
            <a:ext cx="7223759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658368" y="5175504"/>
            <a:ext cx="219456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8FAFC"/>
                </a:solidFill>
                <a:latin typeface="Calibri"/>
              </a:defRPr>
            </a:pPr>
            <a:r>
              <a:t>STAGE 4: DETERMINISTIC SAFETY GATE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2926080" y="5138928"/>
            <a:ext cx="4846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8FAFC"/>
                </a:solidFill>
                <a:latin typeface="Calibri"/>
              </a:defRPr>
            </a:pPr>
            <a:r>
              <a:t>100% G&amp;SR audit: verifies 500m machine buffer, 25kV OHE isolation, 15m train headway.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94360" y="5541264"/>
            <a:ext cx="7223759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658368" y="5596128"/>
            <a:ext cx="219456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8FAFC"/>
                </a:solidFill>
                <a:latin typeface="Calibri"/>
              </a:defRPr>
            </a:pPr>
            <a:r>
              <a:t>STAGE 5: DISPATCH &amp; REPLANNING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2926080" y="5559552"/>
            <a:ext cx="48463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8FAFC"/>
                </a:solidFill>
                <a:latin typeface="Calibri"/>
              </a:defRPr>
            </a:pPr>
            <a:r>
              <a:t>Generates Station Master Joint Block Notices, Marey string charts, and &lt;500ms reactive replanning.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174736" y="3456432"/>
            <a:ext cx="3557016" cy="2487168"/>
          </a:xfrm>
          <a:prstGeom prst="roundRect">
            <a:avLst/>
          </a:prstGeom>
          <a:solidFill>
            <a:srgbClr val="1024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8311896" y="3547872"/>
            <a:ext cx="3282696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WORKING PROTOTYPE VERIFIED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311896" y="3858768"/>
            <a:ext cx="32826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10B981"/>
                </a:solidFill>
                <a:latin typeface="Calibri"/>
              </a:defRPr>
            </a:pPr>
            <a:r>
              <a:t>Full-Stack Working Application</a:t>
            </a:r>
          </a:p>
          <a:p>
            <a:pPr algn="l">
              <a:spcAft>
                <a:spcPts val="300"/>
              </a:spcAft>
              <a:defRPr sz="750" b="0">
                <a:solidFill>
                  <a:srgbClr val="F8FAFC"/>
                </a:solidFill>
                <a:latin typeface="Calibri"/>
              </a:defRPr>
            </a:pPr>
            <a:r>
              <a:t>* FastAPI Python backend paired with React 19 interactive operational dashboard.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3B82F6"/>
                </a:solidFill>
                <a:latin typeface="Calibri"/>
              </a:defRPr>
            </a:pPr>
            <a:r>
              <a:t>Interactive Marey String Chart</a:t>
            </a:r>
          </a:p>
          <a:p>
            <a:pPr algn="l">
              <a:spcAft>
                <a:spcPts val="300"/>
              </a:spcAft>
              <a:defRPr sz="750" b="0">
                <a:solidFill>
                  <a:srgbClr val="F8FAFC"/>
                </a:solidFill>
                <a:latin typeface="Calibri"/>
              </a:defRPr>
            </a:pPr>
            <a:r>
              <a:t>* Real-time time-distance visualization with live conflict detection &amp; train paths.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06B6D4"/>
                </a:solidFill>
                <a:latin typeface="Calibri"/>
              </a:defRPr>
            </a:pPr>
            <a:r>
              <a:t>Dynamic Disruption Simulator</a:t>
            </a:r>
          </a:p>
          <a:p>
            <a:pPr algn="l">
              <a:spcAft>
                <a:spcPts val="300"/>
              </a:spcAft>
              <a:defRPr sz="750" b="0">
                <a:solidFill>
                  <a:srgbClr val="F8FAFC"/>
                </a:solidFill>
                <a:latin typeface="Calibri"/>
              </a:defRPr>
            </a:pPr>
            <a:r>
              <a:t>* Simulates train delays and executes 1-hop rolling horizon replanning in &lt;500ms.</a:t>
            </a:r>
          </a:p>
          <a:p>
            <a:pPr algn="l">
              <a:spcAft>
                <a:spcPts val="100"/>
              </a:spcAft>
              <a:defRPr sz="750" b="1">
                <a:solidFill>
                  <a:srgbClr val="F59E0B"/>
                </a:solidFill>
                <a:latin typeface="Calibri"/>
              </a:defRPr>
            </a:pPr>
            <a:r>
              <a:t>100% Passing Automated Tests</a:t>
            </a:r>
          </a:p>
          <a:p>
            <a:pPr algn="l">
              <a:spcAft>
                <a:spcPts val="300"/>
              </a:spcAft>
              <a:defRPr sz="750" b="0">
                <a:solidFill>
                  <a:srgbClr val="F8FAFC"/>
                </a:solidFill>
                <a:latin typeface="Calibri"/>
              </a:defRPr>
            </a:pPr>
            <a:r>
              <a:t>* 55 / 55 unit &amp; integration tests passing across optimization, safety, and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70C0"/>
                </a:solidFill>
                <a:latin typeface="Calibri"/>
              </a:defRPr>
            </a:pPr>
            <a:r>
              <a:t>FEASIBILITY, RISK AUDIT &amp; RESILIENT DEPLOYMENT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14400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188720"/>
            <a:ext cx="1127455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298448"/>
            <a:ext cx="2011680" cy="21945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8FAFC"/>
                </a:solidFill>
                <a:latin typeface="Calibri"/>
              </a:defRPr>
            </a:pPr>
            <a:r>
              <a:t>DATA AVAILABILITY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53619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Live IR TMS/COA feeds are confidential and access-restricted.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657600" y="1280160"/>
            <a:ext cx="18288" cy="685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840480" y="1298448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3B82F6"/>
                </a:solidFill>
                <a:latin typeface="Calibri"/>
              </a:defRPr>
            </a:pPr>
            <a:r>
              <a:t>Architectural Mitigation &amp; Resilience Strategy:</a:t>
            </a:r>
          </a:p>
          <a:p>
            <a:pPr algn="l">
              <a:defRPr sz="800" b="0">
                <a:solidFill>
                  <a:srgbClr val="F8FAFC"/>
                </a:solidFill>
                <a:latin typeface="Calibri"/>
              </a:defRPr>
            </a:pPr>
            <a:r>
              <a:t>Universal Schema Ingestion Adapter: Calibrated on public NTES timetables and RDSO machine output norms; schema-ready for REST/CSV/FOIS APIs.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9784080" y="1463040"/>
            <a:ext cx="17373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FEASIBLE (Ready)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2130552"/>
            <a:ext cx="1127455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594360" y="2240280"/>
            <a:ext cx="2011680" cy="21945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8FAFC"/>
                </a:solidFill>
                <a:latin typeface="Calibri"/>
              </a:defRPr>
            </a:pPr>
            <a:r>
              <a:t>PEAK INFEASIBILITY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94360" y="247802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High corridor train density leaves zero legal windows for all requested blocks.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657600" y="2221992"/>
            <a:ext cx="18288" cy="685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840480" y="224028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3B82F6"/>
                </a:solidFill>
                <a:latin typeface="Calibri"/>
              </a:defRPr>
            </a:pPr>
            <a:r>
              <a:t>Architectural Mitigation &amp; Resilience Strategy:</a:t>
            </a:r>
          </a:p>
          <a:p>
            <a:pPr algn="l">
              <a:defRPr sz="800" b="0">
                <a:solidFill>
                  <a:srgbClr val="F8FAFC"/>
                </a:solidFill>
                <a:latin typeface="Calibri"/>
              </a:defRPr>
            </a:pPr>
            <a:r>
              <a:t>Automated Tiered Relaxation Hierarchy: Step 1 compresses non-critical buffers; Step 2 defers low-priority routine tasks with audit log; Step 3 preserves safety invariants.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784080" y="2404872"/>
            <a:ext cx="173736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ROBUST (Proven)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57200" y="3072384"/>
            <a:ext cx="11274552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594360" y="3182112"/>
            <a:ext cx="2011680" cy="21945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8FAFC"/>
                </a:solidFill>
                <a:latin typeface="Calibri"/>
              </a:defRPr>
            </a:pPr>
            <a:r>
              <a:t>LIVE DISRUPTIONS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94360" y="341985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Unplanned 45-min freight delay or machine breakdown shatters pre-computed plan.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657600" y="3163824"/>
            <a:ext cx="18288" cy="685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3840480" y="3182112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3B82F6"/>
                </a:solidFill>
                <a:latin typeface="Calibri"/>
              </a:defRPr>
            </a:pPr>
            <a:r>
              <a:t>Architectural Mitigation &amp; Resilience Strategy:</a:t>
            </a:r>
          </a:p>
          <a:p>
            <a:pPr algn="l">
              <a:defRPr sz="800" b="0">
                <a:solidFill>
                  <a:srgbClr val="F8FAFC"/>
                </a:solidFill>
                <a:latin typeface="Calibri"/>
              </a:defRPr>
            </a:pPr>
            <a:r>
              <a:t>Warm-Start 1-Hop Cascade Replanner: Recalculates affected local block section in &lt;500ms using rolling horizon without rebuilding global network.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784080" y="3346704"/>
            <a:ext cx="173736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&lt;500ms LATENCY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4069080"/>
            <a:ext cx="11274552" cy="169164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640080" y="4178808"/>
            <a:ext cx="10908792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Calibri"/>
              </a:defRPr>
            </a:pPr>
            <a:r>
              <a:t>STEPWISE ADOPTION ROADMAP: ZERO DISRUPTION TO RUNNING TRAFFIC OPERATIONS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40080" y="4507992"/>
            <a:ext cx="34747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31520" y="454456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59E0B"/>
                </a:solidFill>
                <a:latin typeface="Calibri"/>
              </a:defRPr>
            </a:pPr>
            <a:r>
              <a:t>PHASE 1: SHADOW ADVISORY</a:t>
            </a:r>
          </a:p>
          <a:p>
            <a:pPr algn="l">
              <a:defRPr sz="750" b="1">
                <a:solidFill>
                  <a:srgbClr val="F8FAFC"/>
                </a:solidFill>
                <a:latin typeface="Calibri"/>
              </a:defRPr>
            </a:pPr>
            <a:r>
              <a:t>* Runs in parallel with Section Controller in division office.</a:t>
            </a:r>
          </a:p>
          <a:p>
            <a:pPr algn="l">
              <a:defRPr sz="750" b="0">
                <a:solidFill>
                  <a:srgbClr val="94A3B8"/>
                </a:solidFill>
                <a:latin typeface="Calibri"/>
              </a:defRPr>
            </a:pPr>
            <a:r>
              <a:t>* Provides advisory recommendations; Section Controller retains 100% manual control.</a:t>
            </a:r>
          </a:p>
          <a:p>
            <a:pPr algn="l">
              <a:defRPr sz="750" b="0">
                <a:solidFill>
                  <a:srgbClr val="10B981"/>
                </a:solidFill>
                <a:latin typeface="Calibri"/>
              </a:defRPr>
            </a:pPr>
            <a:r>
              <a:t>* Zero operational risk to running trains; proves accuracy against real-world logs.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352544" y="4507992"/>
            <a:ext cx="34747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4443984" y="454456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3B82F6"/>
                </a:solidFill>
                <a:latin typeface="Calibri"/>
              </a:defRPr>
            </a:pPr>
            <a:r>
              <a:t>PHASE 2: DIVISION PILOT</a:t>
            </a:r>
          </a:p>
          <a:p>
            <a:pPr algn="l">
              <a:defRPr sz="750" b="1">
                <a:solidFill>
                  <a:srgbClr val="F8FAFC"/>
                </a:solidFill>
                <a:latin typeface="Calibri"/>
              </a:defRPr>
            </a:pPr>
            <a:r>
              <a:t>* Controlled pilot on single high-density double-line section (Kanpur-Prayagraj).</a:t>
            </a:r>
          </a:p>
          <a:p>
            <a:pPr algn="l">
              <a:defRPr sz="750" b="0">
                <a:solidFill>
                  <a:srgbClr val="94A3B8"/>
                </a:solidFill>
                <a:latin typeface="Calibri"/>
              </a:defRPr>
            </a:pPr>
            <a:r>
              <a:t>* Section Controller digitally approves SETU-bundled Shadow Convoys.</a:t>
            </a:r>
          </a:p>
          <a:p>
            <a:pPr algn="l">
              <a:defRPr sz="750" b="0">
                <a:solidFill>
                  <a:srgbClr val="3B82F6"/>
                </a:solidFill>
                <a:latin typeface="Calibri"/>
              </a:defRPr>
            </a:pPr>
            <a:r>
              <a:t>* Integrated field worker mobile portal for automated block clearance reports.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065008" y="4507992"/>
            <a:ext cx="34747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156448" y="4544568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10B981"/>
                </a:solidFill>
                <a:latin typeface="Calibri"/>
              </a:defRPr>
            </a:pPr>
            <a:r>
              <a:t>PHASE 3: ENTERPRISE INTEGRATION</a:t>
            </a:r>
          </a:p>
          <a:p>
            <a:pPr algn="l">
              <a:defRPr sz="750" b="1">
                <a:solidFill>
                  <a:srgbClr val="F8FAFC"/>
                </a:solidFill>
                <a:latin typeface="Calibri"/>
              </a:defRPr>
            </a:pPr>
            <a:r>
              <a:t>* Direct bi-directional API link with CRIS Control Office Application (COA).</a:t>
            </a:r>
          </a:p>
          <a:p>
            <a:pPr algn="l">
              <a:defRPr sz="750" b="0">
                <a:solidFill>
                  <a:srgbClr val="94A3B8"/>
                </a:solidFill>
                <a:latin typeface="Calibri"/>
              </a:defRPr>
            </a:pPr>
            <a:r>
              <a:t>* Fully automated block negotiation between Engineering, TRD, and S&amp;T.</a:t>
            </a:r>
          </a:p>
          <a:p>
            <a:pPr algn="l">
              <a:defRPr sz="750" b="0">
                <a:solidFill>
                  <a:srgbClr val="10B981"/>
                </a:solidFill>
                <a:latin typeface="Calibri"/>
              </a:defRPr>
            </a:pPr>
            <a:r>
              <a:t>* Network-wide deployment across Indian Railways Golden Quadrilateral corridors.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70C0"/>
                </a:solidFill>
                <a:latin typeface="Calibri"/>
              </a:defRPr>
            </a:pPr>
            <a:r>
              <a:t>IMPACT AND BENEFITS: QUANTIFIED OPERATIONAL &amp; SAFETY GAINS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14400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188720"/>
            <a:ext cx="11274552" cy="292608"/>
          </a:xfrm>
          <a:prstGeom prst="roundRect">
            <a:avLst/>
          </a:prstGeom>
          <a:solidFill>
            <a:srgbClr val="18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B82F6"/>
                </a:solidFill>
                <a:latin typeface="Calibri"/>
              </a:defRPr>
            </a:pPr>
            <a:r>
              <a:t>BENCHMARKED ON 433.5 KM ARTERIAL CORRIDOR SIMULATION (Delhi-Kanpur | 140+ Trains/Day | 18 Multi-Dept Orders)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554480"/>
            <a:ext cx="265176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48640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-38.9%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8640" y="221284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TRACK POSSESSION DOWNTIME</a:t>
            </a:r>
          </a:p>
          <a:p>
            <a:pPr algn="ctr">
              <a:defRPr sz="750" b="0">
                <a:solidFill>
                  <a:srgbClr val="94A3B8"/>
                </a:solidFill>
                <a:latin typeface="Calibri"/>
              </a:defRPr>
            </a:pPr>
            <a:r>
              <a:t>Total track closure reduced from 2,080m to 1,270m across corridor.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28416" y="1554480"/>
            <a:ext cx="265176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419856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Calibri"/>
              </a:defRPr>
            </a:pPr>
            <a:r>
              <a:t>+810 MIN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419856" y="221284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CORRIDOR CAPACITY RECOVERED</a:t>
            </a:r>
          </a:p>
          <a:p>
            <a:pPr algn="ctr">
              <a:defRPr sz="750" b="0">
                <a:solidFill>
                  <a:srgbClr val="94A3B8"/>
                </a:solidFill>
                <a:latin typeface="Calibri"/>
              </a:defRPr>
            </a:pPr>
            <a:r>
              <a:t>Active traffic capacity restored for passenger express and freight paths.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99632" y="1554480"/>
            <a:ext cx="265176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6291072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1,420 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291072" y="221284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DIESEL FUEL SAVED / DAY</a:t>
            </a:r>
          </a:p>
          <a:p>
            <a:pPr algn="ctr">
              <a:defRPr sz="750" b="0">
                <a:solidFill>
                  <a:srgbClr val="94A3B8"/>
                </a:solidFill>
                <a:latin typeface="Calibri"/>
              </a:defRPr>
            </a:pPr>
            <a:r>
              <a:t>Eliminated idle locomotive hours on held freight trains (~3.8t CO2 reduction).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070848" y="1554480"/>
            <a:ext cx="265176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9162288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B6D4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9162288" y="221284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SAFETY BUFFER VIOLATIONS</a:t>
            </a:r>
          </a:p>
          <a:p>
            <a:pPr algn="ctr">
              <a:defRPr sz="750" b="0">
                <a:solidFill>
                  <a:srgbClr val="94A3B8"/>
                </a:solidFill>
                <a:latin typeface="Calibri"/>
              </a:defRPr>
            </a:pPr>
            <a:r>
              <a:t>100% adherence to G&amp;SR Chapter XV distance and power isolation rules.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7200" y="3154680"/>
            <a:ext cx="3611880" cy="2606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594360" y="3264408"/>
            <a:ext cx="333756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OPERATIONAL &amp; SOCIAL IMPACT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94360" y="356616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Passenger Train Punctuality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Eliminates unscheduled outer-signal stops and secondary cascading delays on trunk lines.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Mechanized Track Quality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Regular, guaranteed tamping machine windows prevent severe speed restrictions (TSRs).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F59E0B"/>
                </a:solidFill>
                <a:latin typeface="Calibri"/>
              </a:defRPr>
            </a:pPr>
            <a:r>
              <a:t>Commuter Reliability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Predictable passenger journey times across high-density commuter networks.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288536" y="3154680"/>
            <a:ext cx="3611880" cy="2606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4425696" y="3264408"/>
            <a:ext cx="333756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ECONOMIC &amp; FREIGHT BENEFITS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425696" y="356616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Freight Path Availability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Fast-tracks high-value container &amp; bulk rakes without getting sidelined for maintenance.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Capital Asset Utilization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Maximizes output per machine-hour for expensive track tampers (CSM) and OHE ladder cars.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3B82F6"/>
                </a:solidFill>
                <a:latin typeface="Calibri"/>
              </a:defRPr>
            </a:pPr>
            <a:r>
              <a:t>Indian Railways Operating Ratio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Reduces unproductive possession penalties and lowers divisional corridor operating costs.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119872" y="3154680"/>
            <a:ext cx="3611880" cy="2606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8257032" y="3264408"/>
            <a:ext cx="333756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WORKFORCE SAFETY &amp; GOVERNANCE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257032" y="3566160"/>
            <a:ext cx="3337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Guaranteed Electrical Isolation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TRD power block lockout prevents electrocution risks for ground tamping crews.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F8FAFC"/>
                </a:solidFill>
                <a:latin typeface="Calibri"/>
              </a:defRPr>
            </a:pPr>
            <a:r>
              <a:t>Zero Inter-Departmental Blame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Eliminates contentious coordination disputes between Engineering, TRD, and S&amp;T.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10B981"/>
                </a:solidFill>
                <a:latin typeface="Calibri"/>
              </a:defRPr>
            </a:pPr>
            <a:r>
              <a:t>Verifiable Digital Audit Trail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Complete regulatory transparency for every possession request, approval, and deferral.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070C0"/>
                </a:solidFill>
                <a:latin typeface="Calibri"/>
              </a:defRPr>
            </a:pPr>
            <a:r>
              <a:t>RESEARCH, CITATIONS &amp; CODEBASE REPRODUCIBILITY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14400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57200" y="1188720"/>
            <a:ext cx="36118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298448"/>
            <a:ext cx="3337560" cy="2560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1. RAILWAY DOMAIN &amp; SAFETY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1600200"/>
            <a:ext cx="33375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F59E0B"/>
                </a:solidFill>
                <a:latin typeface="Calibri"/>
              </a:defRPr>
            </a:pPr>
            <a:r>
              <a:t>Indian Railways G&amp;SR Rulebook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F8FAFC"/>
                </a:solidFill>
                <a:latin typeface="Calibri"/>
              </a:defRPr>
            </a:pPr>
            <a:r>
              <a:t>General &amp; Subsidiary Rules — Chapter XV: Rules for Working of Trains on Temporary Single Line &amp; Permanent Way Protection.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F59E0B"/>
                </a:solidFill>
                <a:latin typeface="Calibri"/>
              </a:defRPr>
            </a:pPr>
            <a:r>
              <a:t>RDSO Track Machine Guidelines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Comprehensive norms on CSM/BCM machine productivity, maintenance tolerances &amp; headway buffer clearances (IRICEN).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F59E0B"/>
                </a:solidFill>
                <a:latin typeface="Calibri"/>
              </a:defRPr>
            </a:pPr>
            <a:r>
              <a:t>Static Speed Restriction Manuals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Standards governing temporary speed restrictions following mechanized tamping.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88536" y="1188720"/>
            <a:ext cx="36118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4425696" y="1298448"/>
            <a:ext cx="333756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2. OPTIMIZATION &amp; ALGORITHMS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425696" y="1600200"/>
            <a:ext cx="33375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3B82F6"/>
                </a:solidFill>
                <a:latin typeface="Calibri"/>
              </a:defRPr>
            </a:pPr>
            <a:r>
              <a:t>Google OR-Tools CP-SAT Solver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F8FAFC"/>
                </a:solidFill>
                <a:latin typeface="Calibri"/>
              </a:defRPr>
            </a:pPr>
            <a:r>
              <a:t>Laurent Perron &amp; Frederic Didier (Google Operations Research): Constraint Programming with SAT Solvers for NP-hard Scheduling.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3B82F6"/>
                </a:solidFill>
                <a:latin typeface="Calibri"/>
              </a:defRPr>
            </a:pPr>
            <a:r>
              <a:t>Railway Rescheduling Theory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Caimi, Fuchsberger, Burkolter (ETH Zurich): Periodic Timetable Conflict Resolution and Dynamic Rescheduling in Dense Rail Networks.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3B82F6"/>
                </a:solidFill>
                <a:latin typeface="Calibri"/>
              </a:defRPr>
            </a:pPr>
            <a:r>
              <a:t>Rolling Horizon Decision Support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Multi-stage optimization frameworks for dynamic network disruption handling.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19872" y="1188720"/>
            <a:ext cx="361188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ounded Rectangle 17417"/>
          <p:cNvSpPr/>
          <p:nvPr/>
        </p:nvSpPr>
        <p:spPr>
          <a:xfrm>
            <a:off x="8257032" y="1298448"/>
            <a:ext cx="333756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Calibri"/>
              </a:defRPr>
            </a:pPr>
            <a:r>
              <a:t>3. OPEN DATA &amp; BENCHMARKS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257032" y="1600200"/>
            <a:ext cx="33375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1">
                <a:solidFill>
                  <a:srgbClr val="10B981"/>
                </a:solidFill>
                <a:latin typeface="Calibri"/>
              </a:defRPr>
            </a:pPr>
            <a:r>
              <a:t>National Train Enquiry System (NTES)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F8FAFC"/>
                </a:solidFill>
                <a:latin typeface="Calibri"/>
              </a:defRPr>
            </a:pPr>
            <a:r>
              <a:t>Public passenger train timetable schemas, station arrival/departure times, and section running intervals.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10B981"/>
                </a:solidFill>
                <a:latin typeface="Calibri"/>
              </a:defRPr>
            </a:pPr>
            <a:r>
              <a:t>Freight Operations Info System (FOIS)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Standard headway allocations, rake turnover norms, and bulk freight priority schedules.</a:t>
            </a:r>
          </a:p>
          <a:p>
            <a:pPr algn="l">
              <a:spcAft>
                <a:spcPts val="200"/>
              </a:spcAft>
              <a:defRPr sz="850" b="1">
                <a:solidFill>
                  <a:srgbClr val="10B981"/>
                </a:solidFill>
                <a:latin typeface="Calibri"/>
              </a:defRPr>
            </a:pPr>
            <a:r>
              <a:t>Delhi-Kanpur 433.5 km Benchmark</a:t>
            </a:r>
          </a:p>
          <a:p>
            <a:pPr algn="l">
              <a:spcAft>
                <a:spcPts val="400"/>
              </a:spcAft>
              <a:defRPr sz="850" b="0">
                <a:solidFill>
                  <a:srgbClr val="94A3B8"/>
                </a:solidFill>
                <a:latin typeface="Calibri"/>
              </a:defRPr>
            </a:pPr>
            <a:r>
              <a:t>Authentic double-line arterial corridor model with 6 sub-divisions and 140+ daily scheduled trains.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57200" y="3657600"/>
            <a:ext cx="11274552" cy="21031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1" name="Picture 17420" descr="setu_repo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86200"/>
            <a:ext cx="1645920" cy="1645920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548640" y="5440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06B6D4"/>
                </a:solidFill>
                <a:latin typeface="Calibri"/>
              </a:defRPr>
            </a:pPr>
            <a:r>
              <a:t>SCAN TO INSPECT REPO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743200" y="3840480"/>
            <a:ext cx="8778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LIVE CODEBASE &amp; SIMULATION VERIFICATION SUMMARY</a:t>
            </a:r>
          </a:p>
          <a:p>
            <a:pPr algn="l">
              <a:spcAft>
                <a:spcPts val="300"/>
              </a:spcAft>
              <a:defRPr sz="850" b="0">
                <a:solidFill>
                  <a:srgbClr val="F8FAFC"/>
                </a:solidFill>
                <a:latin typeface="Calibri"/>
              </a:defRPr>
            </a:pPr>
            <a:r>
              <a:t>[VERIFIED] 55 / 55 Unit &amp; Integration Tests Passing — 100% test coverage on solver constraints, safety validation, and disruption recovery.</a:t>
            </a:r>
          </a:p>
          <a:p>
            <a:pPr algn="l">
              <a:spcAft>
                <a:spcPts val="300"/>
              </a:spcAft>
              <a:defRPr sz="850" b="0">
                <a:solidFill>
                  <a:srgbClr val="F8FAFC"/>
                </a:solidFill>
                <a:latin typeface="Calibri"/>
              </a:defRPr>
            </a:pPr>
            <a:r>
              <a:t>[VERIFIED] Google OR-Tools CP-SAT + FastAPI Telemetry — Production-grade Python 3.11 backend with asynchronous optimization engine.</a:t>
            </a:r>
          </a:p>
          <a:p>
            <a:pPr algn="l">
              <a:spcAft>
                <a:spcPts val="300"/>
              </a:spcAft>
              <a:defRPr sz="850" b="0">
                <a:solidFill>
                  <a:srgbClr val="F8FAFC"/>
                </a:solidFill>
                <a:latin typeface="Calibri"/>
              </a:defRPr>
            </a:pPr>
            <a:r>
              <a:t>[VERIFIED] Interactive Marey String Chart Included — Section-by-section dynamic space-time visualization with live conflict detection.</a:t>
            </a:r>
          </a:p>
          <a:p>
            <a:pPr algn="l">
              <a:spcAft>
                <a:spcPts val="300"/>
              </a:spcAft>
              <a:defRPr sz="850" b="0">
                <a:solidFill>
                  <a:srgbClr val="F8FAFC"/>
                </a:solidFill>
                <a:latin typeface="Calibri"/>
              </a:defRPr>
            </a:pPr>
            <a:r>
              <a:t>[VERIFIED] Delhi-Kanpur Double-Line Dataset Reproducible — Complete 433.5 km simulation dataset included for independent peer review.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