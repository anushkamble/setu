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spcAft>
                <a:spcPts val="600"/>
              </a:spcAft>
              <a:defRPr sz="1300" b="1">
                <a:solidFill>
                  <a:srgbClr val="3B82F6"/>
                </a:solidFill>
                <a:latin typeface="Calibri"/>
              </a:defRPr>
            </a:pPr>
            <a:r>
              <a:t>PROBLEM STATEMENT ID: SIH26027</a:t>
            </a:r>
            <a:endParaRPr lang="en-US" dirty="0"/>
          </a:p>
          <a:p>
            <a:pPr algn="l">
              <a:spcAft>
                <a:spcPts val="6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Problem Title: Integrated AI Block Planning for Railway Engineering, Traction Distribution &amp; S&amp;T Maintenance</a:t>
            </a:r>
          </a:p>
          <a:p>
            <a:pPr algn="l">
              <a:spcAft>
                <a:spcPts val="400"/>
              </a:spcAft>
              <a:defRPr sz="1000" b="0">
                <a:solidFill>
                  <a:srgbClr val="94A3B8"/>
                </a:solidFill>
                <a:latin typeface="Calibri"/>
              </a:defRPr>
            </a:pPr>
            <a:r>
              <a:t>Official Theme: Smart Transportation / Infrastructure / Railways</a:t>
            </a:r>
          </a:p>
          <a:p>
            <a:pPr algn="l">
              <a:spcAft>
                <a:spcPts val="800"/>
              </a:spcAft>
              <a:defRPr sz="1000" b="0">
                <a:solidFill>
                  <a:srgbClr val="94A3B8"/>
                </a:solidFill>
                <a:latin typeface="Calibri"/>
              </a:defRPr>
            </a:pPr>
            <a:r>
              <a:t>PS Category: Software | Target: Ministry of Railways (Indian Railways)</a:t>
            </a:r>
          </a:p>
          <a:p>
            <a:pPr algn="l">
              <a:defRPr sz="1100" b="1">
                <a:solidFill>
                  <a:srgbClr val="10B981"/>
                </a:solidFill>
                <a:latin typeface="Calibri"/>
              </a:defRPr>
            </a:pPr>
            <a:r>
              <a:t>Team ID: [Registered Team ID]   |   Team Name: [Registered Team Name]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217920" y="1645920"/>
            <a:ext cx="548640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92240" y="1828800"/>
            <a:ext cx="493776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  <a:latin typeface="Calibri"/>
              </a:defRPr>
            </a:pPr>
            <a:r>
              <a:t>CORE PARADIGM: CROSS-DEPARTMENT SHADOW CONVOYS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92240" y="2286000"/>
            <a:ext cx="493776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83680" y="2377440"/>
            <a:ext cx="4754880" cy="2286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8FAFC"/>
                </a:solidFill>
                <a:latin typeface="Calibri"/>
              </a:defRPr>
            </a:pPr>
            <a:r>
              <a:t>CURRENT PRACTICE: 3 DISJOINTED TRACK SHUTDOWNS (14.2h Lost)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2670048"/>
            <a:ext cx="2011680" cy="21945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Track (P-Way): 09:00 - 12:00 (180m)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0" y="2670048"/>
            <a:ext cx="1554480" cy="219456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TRD (OHE): 13:30 - 15:30 (120m)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32720" y="2670048"/>
            <a:ext cx="1005840" cy="21945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50" b="1">
                <a:solidFill>
                  <a:srgbClr val="F8FAFC"/>
                </a:solidFill>
                <a:latin typeface="Calibri"/>
              </a:defRPr>
            </a:pPr>
            <a:r>
              <a:t>S&amp;T: 16:30 (90m)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29260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3 Separate Traffic Halts | Repeated Speed Restrictions | Compounded Freight Stagnation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0" y="379476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Calibri"/>
              </a:defRPr>
            </a:pPr>
            <a:r>
              <a:t>v   SETU CP-SAT BUNDLING &amp; DETERMINISTIC SAFETY GATE   v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92240" y="4160520"/>
            <a:ext cx="4937760" cy="1600200"/>
          </a:xfrm>
          <a:prstGeom prst="roundRect">
            <a:avLst/>
          </a:prstGeom>
          <a:solidFill>
            <a:srgbClr val="1024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83680" y="4251960"/>
            <a:ext cx="4754880" cy="23774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F8FAFC"/>
                </a:solidFill>
                <a:latin typeface="Calibri"/>
              </a:defRPr>
            </a:pPr>
            <a:r>
              <a:t>SETU REVOLUTION: 1 UNIFIED SHADOW CONVOY WINDOW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83680" y="4572000"/>
            <a:ext cx="4754880" cy="502920"/>
          </a:xfrm>
          <a:prstGeom prst="roundRect">
            <a:avLst/>
          </a:prstGeom>
          <a:solidFill>
            <a:srgbClr val="0A142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675120" y="4626864"/>
            <a:ext cx="3657600" cy="16459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8FAFC"/>
                </a:solidFill>
                <a:latin typeface="Calibri"/>
              </a:defRPr>
            </a:pPr>
            <a:r>
              <a:t>ENG: CSM Tamping Machine (Km 102.0 - 104.5)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949440" y="4809744"/>
            <a:ext cx="2926080" cy="164592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8FAFC"/>
                </a:solidFill>
                <a:latin typeface="Calibri"/>
              </a:defRPr>
            </a:pPr>
            <a:r>
              <a:t>TRD: Catenary Tower Car (Km 102.5 - 104.0) [Certified 25kV Cut]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4809744"/>
            <a:ext cx="2011680" cy="16459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8FAFC"/>
                </a:solidFill>
                <a:latin typeface="Calibri"/>
              </a:defRPr>
            </a:pPr>
            <a:r>
              <a:t>S&amp;T: Point Testing (Km 104.2)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0" y="51206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10B981"/>
                </a:solidFill>
                <a:latin typeface="Calibri"/>
              </a:defRPr>
            </a:pPr>
            <a:r>
              <a:t>1 Single Integrated Window (210 min)  |  180 min Track Time Returned to Traffic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Zero passenger train disruption  *  100% G&amp;SR safety clearance buffers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PROPOSED SOLUTION: CROSS-DEPARTMENT SHADOW CONVOY ENGINE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91440000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57200" y="1188720"/>
            <a:ext cx="4389120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ounded Rectangle 15363"/>
          <p:cNvSpPr/>
          <p:nvPr/>
        </p:nvSpPr>
        <p:spPr>
          <a:xfrm>
            <a:off x="640080" y="1325880"/>
            <a:ext cx="4023360" cy="2743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  <a:latin typeface="Calibri"/>
              </a:defRPr>
            </a:pPr>
            <a:r>
              <a:t>CURRENT REALITY: DEPARTMENTAL SILOS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640080" y="1691640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950" b="0">
                <a:solidFill>
                  <a:srgbClr val="F59E0B"/>
                </a:solidFill>
                <a:latin typeface="Calibri"/>
              </a:defRPr>
            </a:pPr>
            <a:r>
              <a:t>* Civil Eng (Track): Submits 09:00-12:00 block -&gt; 180 min track closure</a:t>
            </a:r>
          </a:p>
          <a:p>
            <a:pPr algn="l">
              <a:spcAft>
                <a:spcPts val="400"/>
              </a:spcAft>
              <a:defRPr sz="950" b="0">
                <a:solidFill>
                  <a:srgbClr val="06B6D4"/>
                </a:solidFill>
                <a:latin typeface="Calibri"/>
              </a:defRPr>
            </a:pPr>
            <a:r>
              <a:t>* TRD (OHE): Submits 13:30-15:30 block -&gt; 120 min track closure</a:t>
            </a:r>
          </a:p>
          <a:p>
            <a:pPr algn="l">
              <a:spcAft>
                <a:spcPts val="800"/>
              </a:spcAft>
              <a:defRPr sz="950" b="0">
                <a:solidFill>
                  <a:srgbClr val="10B981"/>
                </a:solidFill>
                <a:latin typeface="Calibri"/>
              </a:defRPr>
            </a:pPr>
            <a:r>
              <a:t>* S&amp;T (Signals): Submits 16:30-18:00 block -&gt; 90 min track closure</a:t>
            </a:r>
          </a:p>
          <a:p>
            <a:pPr algn="l">
              <a:defRPr sz="950" b="1">
                <a:solidFill>
                  <a:srgbClr val="EF4444"/>
                </a:solidFill>
                <a:latin typeface="Calibri"/>
              </a:defRPr>
            </a:pPr>
            <a:r>
              <a:t>BOTTLENECK: 3 Separate Track Closures (390 min total lost). Section controllers juggle paper forms. Freight held at outer loops.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5029200" y="1188720"/>
            <a:ext cx="6702552" cy="2377440"/>
          </a:xfrm>
          <a:prstGeom prst="roundRect">
            <a:avLst/>
          </a:prstGeom>
          <a:solidFill>
            <a:srgbClr val="10243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7" name="Rounded Rectangle 15366"/>
          <p:cNvSpPr/>
          <p:nvPr/>
        </p:nvSpPr>
        <p:spPr>
          <a:xfrm>
            <a:off x="5212080" y="1325880"/>
            <a:ext cx="6336792" cy="27432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8FAFC"/>
                </a:solidFill>
                <a:latin typeface="Calibri"/>
              </a:defRPr>
            </a:pPr>
            <a:r>
              <a:t>THE SETU REVOLUTION: SYNCHRONIZED SHADOW CONVOY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5212080" y="1691640"/>
            <a:ext cx="633679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50" b="1">
                <a:solidFill>
                  <a:srgbClr val="10B981"/>
                </a:solidFill>
                <a:latin typeface="Calibri"/>
              </a:defRPr>
            </a:pPr>
            <a:r>
              <a:t>UNIFIED PROTECTED CORRIDOR WINDOW: 11:00 - 14:30 (210 min active possession)</a:t>
            </a:r>
          </a:p>
          <a:p>
            <a:pPr algn="l">
              <a:spcAft>
                <a:spcPts val="300"/>
              </a:spcAft>
              <a:defRPr sz="950" b="0">
                <a:solidFill>
                  <a:srgbClr val="F8FAFC"/>
                </a:solidFill>
                <a:latin typeface="Calibri"/>
              </a:defRPr>
            </a:pPr>
            <a:r>
              <a:t>* Eng: Tamping Machine operates Km 102.0 to 104.5 (P-Way output maximized)</a:t>
            </a:r>
          </a:p>
          <a:p>
            <a:pPr algn="l">
              <a:spcAft>
                <a:spcPts val="300"/>
              </a:spcAft>
              <a:defRPr sz="950" b="0">
                <a:solidFill>
                  <a:srgbClr val="F8FAFC"/>
                </a:solidFill>
                <a:latin typeface="Calibri"/>
              </a:defRPr>
            </a:pPr>
            <a:r>
              <a:t>* TRD: OHE Ladder Car operates Km 102.5 to 104.0 under certified 25kV power cut</a:t>
            </a:r>
          </a:p>
          <a:p>
            <a:pPr algn="l">
              <a:spcAft>
                <a:spcPts val="600"/>
              </a:spcAft>
              <a:defRPr sz="950" b="0">
                <a:solidFill>
                  <a:srgbClr val="F8FAFC"/>
                </a:solidFill>
                <a:latin typeface="Calibri"/>
              </a:defRPr>
            </a:pPr>
            <a:r>
              <a:t>* S&amp;T: Interlocking Point Machine tested concurrently at Km 104.2 crossover</a:t>
            </a:r>
          </a:p>
          <a:p>
            <a:pPr algn="l">
              <a:defRPr sz="950" b="1">
                <a:solidFill>
                  <a:srgbClr val="3B82F6"/>
                </a:solidFill>
                <a:latin typeface="Calibri"/>
              </a:defRPr>
            </a:pPr>
            <a:r>
              <a:t>RESULT: 1 Single Corridor Closure instead of 3. Saved 180 min of active track time. Headways preserved for Rajdhani &amp; container freight rakes.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457200" y="3703320"/>
            <a:ext cx="36118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ounded Rectangle 15369"/>
          <p:cNvSpPr/>
          <p:nvPr/>
        </p:nvSpPr>
        <p:spPr>
          <a:xfrm>
            <a:off x="594360" y="3840480"/>
            <a:ext cx="333756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1. SHARED ASSET DEMAND LEDGER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594360" y="4142232"/>
            <a:ext cx="3337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F8FAFC"/>
                </a:solidFill>
                <a:latin typeface="Calibri"/>
              </a:defRPr>
            </a:pPr>
            <a:r>
              <a:t>Unified Multi-Dept Ingestion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Ingests pending maintenance work orders from Civil Eng, TRD, and S&amp;T into a single standardized operational queue.</a:t>
            </a:r>
          </a:p>
          <a:p>
            <a:pPr algn="l">
              <a:defRPr sz="850" b="1">
                <a:solidFill>
                  <a:srgbClr val="F59E0B"/>
                </a:solidFill>
                <a:latin typeface="Calibri"/>
              </a:defRPr>
            </a:pPr>
            <a:r>
              <a:t>* Replaces fragmented paper &amp; phone requests with unified spatio-temporal state.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4288536" y="3703320"/>
            <a:ext cx="36118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Rounded Rectangle 15372"/>
          <p:cNvSpPr/>
          <p:nvPr/>
        </p:nvSpPr>
        <p:spPr>
          <a:xfrm>
            <a:off x="4425696" y="3840480"/>
            <a:ext cx="333756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2. SPATIO-TEMPORAL CONVOY PACKING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4425696" y="4142232"/>
            <a:ext cx="3337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F8FAFC"/>
                </a:solidFill>
                <a:latin typeface="Calibri"/>
              </a:defRPr>
            </a:pPr>
            <a:r>
              <a:t>Google OR-Tools CP-SAT Bundling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Algorithmically discovers compatible multi-department tasks on the same track segment. Enforces 500m safety clearance buffers.</a:t>
            </a:r>
          </a:p>
          <a:p>
            <a:pPr algn="l">
              <a:defRPr sz="850" b="1">
                <a:solidFill>
                  <a:srgbClr val="3B82F6"/>
                </a:solidFill>
                <a:latin typeface="Calibri"/>
              </a:defRPr>
            </a:pPr>
            <a:r>
              <a:t>* Guarantees OHE 25kV de-energization window strictly encloses ground maintenance.</a:t>
            </a:r>
          </a:p>
        </p:txBody>
      </p:sp>
      <p:sp>
        <p:nvSpPr>
          <p:cNvPr id="15375" name="Rounded Rectangle 15374"/>
          <p:cNvSpPr/>
          <p:nvPr/>
        </p:nvSpPr>
        <p:spPr>
          <a:xfrm>
            <a:off x="8119872" y="3703320"/>
            <a:ext cx="361188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6" name="Rounded Rectangle 15375"/>
          <p:cNvSpPr/>
          <p:nvPr/>
        </p:nvSpPr>
        <p:spPr>
          <a:xfrm>
            <a:off x="8257032" y="3840480"/>
            <a:ext cx="33375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3. TIMETABLE MARGIN INTEGRATION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8257032" y="4142232"/>
            <a:ext cx="3337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000" b="1">
                <a:solidFill>
                  <a:srgbClr val="F8FAFC"/>
                </a:solidFill>
                <a:latin typeface="Calibri"/>
              </a:defRPr>
            </a:pPr>
            <a:r>
              <a:t>Corridor Headway Awareness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Snaps joint possession envelopes into natural timetable white margins between scheduled passenger and freight trains.</a:t>
            </a:r>
          </a:p>
          <a:p>
            <a:pPr algn="l">
              <a:defRPr sz="850" b="1">
                <a:solidFill>
                  <a:srgbClr val="10B981"/>
                </a:solidFill>
                <a:latin typeface="Calibri"/>
              </a:defRPr>
            </a:pPr>
            <a:r>
              <a:t>* Eliminates unscheduled passenger stops at outer home signals.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TECHNICAL APPROACH: MULTI-STAGE OPTIMIZATION &amp; SAFETY PIPELINE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14400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1188720"/>
            <a:ext cx="265176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298448"/>
            <a:ext cx="237744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1. DEMAND &amp; MARGINS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94360" y="160020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Work Orders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Eng, TRD, S&amp;T pending tasks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NTES Passenger Timetables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FOIS Freight Headways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Duration Risk Estimator (ML)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328416" y="1188720"/>
            <a:ext cx="265176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3465576" y="1298448"/>
            <a:ext cx="237744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2. SOLVER ENGINE (CP-SAT)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465576" y="160020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Google OR-Tools CP-SAT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IntervalVar() Decision Variables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Multi-Knapsack Packing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Spatio-Temporal No-Overlap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Global Penalty Minimization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199632" y="1188720"/>
            <a:ext cx="2651760" cy="2011680"/>
          </a:xfrm>
          <a:prstGeom prst="roundRect">
            <a:avLst/>
          </a:prstGeom>
          <a:solidFill>
            <a:srgbClr val="231E14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336792" y="1298448"/>
            <a:ext cx="2377440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3. ZERO-ERROR SAFETY GATE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6336792" y="160020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D97706"/>
                </a:solidFill>
                <a:latin typeface="Calibri"/>
              </a:defRPr>
            </a:pPr>
            <a:r>
              <a:t>Deterministic Validator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G&amp;SR Chapter XV Rulebook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15-min Train Headway Buffer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25kV OHE Power Lockout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EF4444"/>
                </a:solidFill>
                <a:latin typeface="Calibri"/>
              </a:defRPr>
            </a:pPr>
            <a:r>
              <a:t>100% VETO / ZERO ML OVERRIDE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9070848" y="1188720"/>
            <a:ext cx="2651760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9208008" y="1298448"/>
            <a:ext cx="237744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4. OPERATIONAL DISPATCH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208008" y="160020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Section Block Notices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Station Master Authorizations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Dynamic Marey String Charts</a:t>
            </a:r>
          </a:p>
          <a:p>
            <a:pPr algn="l">
              <a:spcAft>
                <a:spcPts val="2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Speed Restriction Bulletins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Machine Crew Rostering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57200" y="333756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594360" y="3474720"/>
            <a:ext cx="333756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AI / ML ESTIMATION LAYER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94360" y="3776472"/>
            <a:ext cx="3337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Role: Task Duration &amp; Priority Scoring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FastAPI telemetry microservice trained on synthetic &amp; historical maintenance logs.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Estimates machine task duration variance under weather &amp; ballast conditions.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Calculates dynamic deferral cost penalties based on track wear indices.</a:t>
            </a:r>
          </a:p>
          <a:p>
            <a:pPr algn="l">
              <a:spcAft>
                <a:spcPts val="3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PRINCIPLE: ML recommends priority, NEVER final safety.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288536" y="333756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4425696" y="3474720"/>
            <a:ext cx="333756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MATHEMATICAL OPTIMIZATION CORE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425696" y="3776472"/>
            <a:ext cx="3337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Role: Combinatorial Global Search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Google OR-Tools CP-SAT constraint programming solver engine.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Formulated as Multi-Dimensional Bin Packing with Non-Overlapping Intervals.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Evaluates 10,000+ spatial permutations in &lt;3.5 seconds across 6 sub-divisions.</a:t>
            </a:r>
          </a:p>
          <a:p>
            <a:pPr algn="l">
              <a:spcAft>
                <a:spcPts val="3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Objective: Minimize Occupancy + Deferrals + Headway Loss.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8119872" y="333756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8257032" y="3474720"/>
            <a:ext cx="33375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DETERMINISTIC SAFETY AUDITOR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8257032" y="3776472"/>
            <a:ext cx="3337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Role: Independent Rulebook Gatekeeper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Standalone Python core enforcing Indian Railways General &amp; Subsidiary Rules (G&amp;SR).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Hard Safety Invariant: Minimum 500m separation between tamping machine &amp; workers.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Hard Electrical Invariant: TRD power block strictly encloses track maintenance.</a:t>
            </a:r>
          </a:p>
          <a:p>
            <a:pPr algn="l">
              <a:spcAft>
                <a:spcPts val="300"/>
              </a:spcAft>
              <a:defRPr sz="850" b="1">
                <a:solidFill>
                  <a:srgbClr val="EF4444"/>
                </a:solidFill>
                <a:latin typeface="Calibri"/>
              </a:defRPr>
            </a:pPr>
            <a:r>
              <a:t>ZERO-HALLUCINATION: Cannot be overridden by ML or user.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FEASIBILITY, RISK AUDIT &amp; RESILIENT DEPLOYMENT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14400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1188720"/>
            <a:ext cx="11274552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298448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8FAFC"/>
                </a:solidFill>
                <a:latin typeface="Calibri"/>
              </a:defRPr>
            </a:pPr>
            <a:r>
              <a:t>DATA AVAILABILITY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94360" y="1536192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Live IR TMS/COA feeds are confidential and access-restricted.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3657600" y="1280160"/>
            <a:ext cx="18288" cy="6858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3840480" y="1298448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3B82F6"/>
                </a:solidFill>
                <a:latin typeface="Calibri"/>
              </a:defRPr>
            </a:pPr>
            <a:r>
              <a:t>Architectural Mitigation &amp; Resilience Strategy:</a:t>
            </a:r>
          </a:p>
          <a:p>
            <a:pPr algn="l">
              <a:defRPr sz="800" b="0">
                <a:solidFill>
                  <a:srgbClr val="F8FAFC"/>
                </a:solidFill>
                <a:latin typeface="Calibri"/>
              </a:defRPr>
            </a:pPr>
            <a:r>
              <a:t>Universal Schema Ingestion Adapter: Calibrated on public NTES timetables and RDSO machine output norms; schema-ready for REST/CSV/FOIS APIs.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9784080" y="1463040"/>
            <a:ext cx="173736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FEASIBLE (Ready)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57200" y="2130552"/>
            <a:ext cx="11274552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594360" y="2240280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8FAFC"/>
                </a:solidFill>
                <a:latin typeface="Calibri"/>
              </a:defRPr>
            </a:pPr>
            <a:r>
              <a:t>PEAK INFEASIBILITY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94360" y="2478024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High corridor train density leaves zero legal windows for all requested blocks.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3657600" y="2221992"/>
            <a:ext cx="18288" cy="6858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3840480" y="224028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3B82F6"/>
                </a:solidFill>
                <a:latin typeface="Calibri"/>
              </a:defRPr>
            </a:pPr>
            <a:r>
              <a:t>Architectural Mitigation &amp; Resilience Strategy:</a:t>
            </a:r>
          </a:p>
          <a:p>
            <a:pPr algn="l">
              <a:defRPr sz="800" b="0">
                <a:solidFill>
                  <a:srgbClr val="F8FAFC"/>
                </a:solidFill>
                <a:latin typeface="Calibri"/>
              </a:defRPr>
            </a:pPr>
            <a:r>
              <a:t>Automated Tiered Relaxation Hierarchy: Step 1 compresses non-critical buffers; Step 2 defers low-priority routine tasks with audit log; Step 3 preserves safety invariants.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9784080" y="2404872"/>
            <a:ext cx="173736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ROBUST (Proven)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57200" y="3072384"/>
            <a:ext cx="11274552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594360" y="3182112"/>
            <a:ext cx="2011680" cy="21945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8FAFC"/>
                </a:solidFill>
                <a:latin typeface="Calibri"/>
              </a:defRPr>
            </a:pPr>
            <a:r>
              <a:t>LIVE DISRUPTIONS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94360" y="3419856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Calibri"/>
              </a:defRPr>
            </a:pPr>
            <a:r>
              <a:t>Unplanned 45-min freight delay or machine breakdown shatters pre-computed plan.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3657600" y="3163824"/>
            <a:ext cx="18288" cy="6858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TextBox 17426"/>
          <p:cNvSpPr txBox="1"/>
          <p:nvPr/>
        </p:nvSpPr>
        <p:spPr>
          <a:xfrm>
            <a:off x="3840480" y="3182112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3B82F6"/>
                </a:solidFill>
                <a:latin typeface="Calibri"/>
              </a:defRPr>
            </a:pPr>
            <a:r>
              <a:t>Architectural Mitigation &amp; Resilience Strategy:</a:t>
            </a:r>
          </a:p>
          <a:p>
            <a:pPr algn="l">
              <a:defRPr sz="800" b="0">
                <a:solidFill>
                  <a:srgbClr val="F8FAFC"/>
                </a:solidFill>
                <a:latin typeface="Calibri"/>
              </a:defRPr>
            </a:pPr>
            <a:r>
              <a:t>Warm-Start 1-Hop Cascade Replanner: Recalculates affected local block section in &lt;500ms using rolling horizon without rebuilding global network.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784080" y="3346704"/>
            <a:ext cx="1737360" cy="3200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&lt;500ms LATENCY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57200" y="4069080"/>
            <a:ext cx="11274552" cy="16916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640080" y="4178808"/>
            <a:ext cx="10908792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F8FAFC"/>
                </a:solidFill>
                <a:latin typeface="Calibri"/>
              </a:defRPr>
            </a:pPr>
            <a:r>
              <a:t>STEPWISE ADOPTION ROADMAP: ZERO DISRUPTION TO RUNNING TRAFFIC OPERATIONS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40080" y="4507992"/>
            <a:ext cx="347472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731520" y="45445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F59E0B"/>
                </a:solidFill>
                <a:latin typeface="Calibri"/>
              </a:defRPr>
            </a:pPr>
            <a:r>
              <a:t>PHASE 1: SHADOW ADVISORY</a:t>
            </a:r>
          </a:p>
          <a:p>
            <a:pPr algn="l">
              <a:defRPr sz="750" b="1">
                <a:solidFill>
                  <a:srgbClr val="F8FAFC"/>
                </a:solidFill>
                <a:latin typeface="Calibri"/>
              </a:defRPr>
            </a:pPr>
            <a:r>
              <a:t>* Runs in parallel with Section Controller in division office.</a:t>
            </a:r>
          </a:p>
          <a:p>
            <a:pPr algn="l">
              <a:defRPr sz="750" b="0">
                <a:solidFill>
                  <a:srgbClr val="94A3B8"/>
                </a:solidFill>
                <a:latin typeface="Calibri"/>
              </a:defRPr>
            </a:pPr>
            <a:r>
              <a:t>* Provides advisory recommendations; Section Controller retains 100% manual control.</a:t>
            </a:r>
          </a:p>
          <a:p>
            <a:pPr algn="l">
              <a:defRPr sz="750" b="0">
                <a:solidFill>
                  <a:srgbClr val="10B981"/>
                </a:solidFill>
                <a:latin typeface="Calibri"/>
              </a:defRPr>
            </a:pPr>
            <a:r>
              <a:t>* Zero operational risk to running trains; proves accuracy against real-world logs.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352544" y="4507992"/>
            <a:ext cx="347472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4443984" y="45445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3B82F6"/>
                </a:solidFill>
                <a:latin typeface="Calibri"/>
              </a:defRPr>
            </a:pPr>
            <a:r>
              <a:t>PHASE 2: DIVISION PILOT</a:t>
            </a:r>
          </a:p>
          <a:p>
            <a:pPr algn="l">
              <a:defRPr sz="750" b="1">
                <a:solidFill>
                  <a:srgbClr val="F8FAFC"/>
                </a:solidFill>
                <a:latin typeface="Calibri"/>
              </a:defRPr>
            </a:pPr>
            <a:r>
              <a:t>* Controlled pilot on single high-density double-line section (Kanpur-Prayagraj).</a:t>
            </a:r>
          </a:p>
          <a:p>
            <a:pPr algn="l">
              <a:defRPr sz="750" b="0">
                <a:solidFill>
                  <a:srgbClr val="94A3B8"/>
                </a:solidFill>
                <a:latin typeface="Calibri"/>
              </a:defRPr>
            </a:pPr>
            <a:r>
              <a:t>* Section Controller digitally approves SETU-bundled Shadow Convoys.</a:t>
            </a:r>
          </a:p>
          <a:p>
            <a:pPr algn="l">
              <a:defRPr sz="750" b="0">
                <a:solidFill>
                  <a:srgbClr val="3B82F6"/>
                </a:solidFill>
                <a:latin typeface="Calibri"/>
              </a:defRPr>
            </a:pPr>
            <a:r>
              <a:t>* Integrated field worker mobile portal for automated block clearance reports.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8065008" y="4507992"/>
            <a:ext cx="3474720" cy="1143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8156448" y="45445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10B981"/>
                </a:solidFill>
                <a:latin typeface="Calibri"/>
              </a:defRPr>
            </a:pPr>
            <a:r>
              <a:t>PHASE 3: ENTERPRISE INTEGRATION</a:t>
            </a:r>
          </a:p>
          <a:p>
            <a:pPr algn="l">
              <a:defRPr sz="750" b="1">
                <a:solidFill>
                  <a:srgbClr val="F8FAFC"/>
                </a:solidFill>
                <a:latin typeface="Calibri"/>
              </a:defRPr>
            </a:pPr>
            <a:r>
              <a:t>* Direct bi-directional API link with CRIS Control Office Application (COA).</a:t>
            </a:r>
          </a:p>
          <a:p>
            <a:pPr algn="l">
              <a:defRPr sz="750" b="0">
                <a:solidFill>
                  <a:srgbClr val="94A3B8"/>
                </a:solidFill>
                <a:latin typeface="Calibri"/>
              </a:defRPr>
            </a:pPr>
            <a:r>
              <a:t>* Fully automated block negotiation between Engineering, TRD, and S&amp;T.</a:t>
            </a:r>
          </a:p>
          <a:p>
            <a:pPr algn="l">
              <a:defRPr sz="750" b="0">
                <a:solidFill>
                  <a:srgbClr val="10B981"/>
                </a:solidFill>
                <a:latin typeface="Calibri"/>
              </a:defRPr>
            </a:pPr>
            <a:r>
              <a:t>* Network-wide deployment across Indian Railways Golden Quadrilateral corridors.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IMPACT AND BENEFITS: QUANTIFIED OPERATIONAL &amp; SAFETY GAINS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14400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1188720"/>
            <a:ext cx="11274552" cy="292608"/>
          </a:xfrm>
          <a:prstGeom prst="roundRect">
            <a:avLst/>
          </a:prstGeom>
          <a:solidFill>
            <a:srgbClr val="18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3B82F6"/>
                </a:solidFill>
                <a:latin typeface="Calibri"/>
              </a:defRPr>
            </a:pPr>
            <a:r>
              <a:t>BENCHMARKED ON 433.5 KM ARTERIAL CORRIDOR SIMULATION (Delhi-Kanpur | 140+ Trains/Day | 18 Multi-Dept Orders)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57200" y="1554480"/>
            <a:ext cx="2651760" cy="1508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6276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9E0B"/>
                </a:solidFill>
                <a:latin typeface="Calibri"/>
              </a:defRPr>
            </a:pPr>
            <a:r>
              <a:t>-38.9%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21284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TRACK POSSESSION DOWNTIME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Total track closure reduced from 2,080m to 1,270m across corridor.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328416" y="1554480"/>
            <a:ext cx="2651760" cy="1508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3419856" y="16276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B82F6"/>
                </a:solidFill>
                <a:latin typeface="Calibri"/>
              </a:defRPr>
            </a:pPr>
            <a:r>
              <a:t>+810 MIN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419856" y="221284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CORRIDOR CAPACITY RECOVERED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Active traffic capacity restored for passenger express and freight paths.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99632" y="1554480"/>
            <a:ext cx="2651760" cy="1508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291072" y="16276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Calibri"/>
              </a:defRPr>
            </a:pPr>
            <a:r>
              <a:t>1,420 L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291072" y="221284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DIESEL FUEL SAVED / DAY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Eliminated idle locomotive hours on held freight trains (~3.8t CO2 reduction).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070848" y="1554480"/>
            <a:ext cx="2651760" cy="1508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9162288" y="16276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6B6D4"/>
                </a:solidFill>
                <a:latin typeface="Calibri"/>
              </a:defRPr>
            </a:pPr>
            <a:r>
              <a:t>ZERO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162288" y="2212848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SAFETY BUFFER VIOLATIONS</a:t>
            </a:r>
          </a:p>
          <a:p>
            <a:pPr algn="ctr">
              <a:defRPr sz="750" b="0">
                <a:solidFill>
                  <a:srgbClr val="94A3B8"/>
                </a:solidFill>
                <a:latin typeface="Calibri"/>
              </a:defRPr>
            </a:pPr>
            <a:r>
              <a:t>100% adherence to G&amp;SR Chapter XV distance and power isolation rules.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57200" y="3154680"/>
            <a:ext cx="3611880" cy="2606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594360" y="3264408"/>
            <a:ext cx="333756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OPERATIONAL &amp; SOCIAL IMPACT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94360" y="3566160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Passenger Train Punctuality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Eliminates unscheduled outer-signal stops and secondary cascading delays on trunk lines.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Mechanized Track Quality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Regular, guaranteed tamping machine windows prevent severe speed restrictions (TSRs).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Commuter Reliability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Predictable passenger journey times across high-density commuter networks.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288536" y="3154680"/>
            <a:ext cx="3611880" cy="2606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4425696" y="3264408"/>
            <a:ext cx="333756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ECONOMIC &amp; FREIGHT BENEFITS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425696" y="3566160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Freight Path Availability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Fast-tracks high-value container &amp; bulk rakes without getting sidelined for maintenance.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Capital Asset Utilization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Maximizes output per machine-hour for expensive track tampers (CSM) and OHE ladder cars.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Indian Railways Operating Ratio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Reduces unproductive possession penalties and lowers divisional corridor operating costs.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8119872" y="3154680"/>
            <a:ext cx="3611880" cy="2606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8257032" y="3264408"/>
            <a:ext cx="33375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WORKFORCE SAFETY &amp; GOVERNANCE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8257032" y="3566160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Guaranteed Electrical Isolation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TRD power block lockout prevents electrocution risks for ground tamping crews.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8FAFC"/>
                </a:solidFill>
                <a:latin typeface="Calibri"/>
              </a:defRPr>
            </a:pPr>
            <a:r>
              <a:t>Zero Inter-Departmental Blame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Eliminates contentious coordination disputes between Engineering, TRD, and S&amp;T.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Verifiable Digital Audit Trail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Complete regulatory transparency for every possession request, approval, and deferral.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070C0"/>
                </a:solidFill>
                <a:latin typeface="Calibri"/>
              </a:defRPr>
            </a:pPr>
            <a:r>
              <a:t>RESEARCH, CITATIONS &amp; CODEBASE REPRODUCIBILITY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914400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118872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594360" y="1298448"/>
            <a:ext cx="3337560" cy="25603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1. RAILWAY DOMAIN &amp; SAFETY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94360" y="1600200"/>
            <a:ext cx="33375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Indian Railways G&amp;SR Rulebook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General &amp; Subsidiary Rules — Chapter XV: Rules for Working of Trains on Temporary Single Line &amp; Permanent Way Protection.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RDSO Track Machine Guidelines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Comprehensive norms on CSM/BCM machine productivity, maintenance tolerances &amp; headway buffer clearances (IRICEN).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F59E0B"/>
                </a:solidFill>
                <a:latin typeface="Calibri"/>
              </a:defRPr>
            </a:pPr>
            <a:r>
              <a:t>Static Speed Restriction Manuals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Standards governing temporary speed restrictions following mechanized tamping.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288536" y="118872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4425696" y="1298448"/>
            <a:ext cx="3337560" cy="256032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2. OPTIMIZATION &amp; ALGORITHMS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425696" y="1600200"/>
            <a:ext cx="33375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Google OR-Tools CP-SAT Solver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Laurent Perron &amp; Frederic Didier (Google Operations Research): Constraint Programming with SAT Solvers for NP-hard Scheduling.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Railway Rescheduling Theory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Caimi, Fuchsberger, Burkolter (ETH Zurich): Periodic Timetable Conflict Resolution and Dynamic Rescheduling in Dense Rail Networks.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3B82F6"/>
                </a:solidFill>
                <a:latin typeface="Calibri"/>
              </a:defRPr>
            </a:pPr>
            <a:r>
              <a:t>Rolling Horizon Decision Support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Multi-stage optimization frameworks for dynamic network disruption handling.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119872" y="1188720"/>
            <a:ext cx="3611880" cy="2377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8257032" y="1298448"/>
            <a:ext cx="3337560" cy="25603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8FAFC"/>
                </a:solidFill>
                <a:latin typeface="Calibri"/>
              </a:defRPr>
            </a:pPr>
            <a:r>
              <a:t>3. OPEN DATA &amp; BENCHMARKS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257032" y="1600200"/>
            <a:ext cx="33375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National Train Enquiry System (NTES)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Public passenger train timetable schemas, station arrival/departure times, and section running intervals.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Freight Operations Info System (FOIS)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Standard headway allocations, rake turnover norms, and bulk freight priority schedules.</a:t>
            </a:r>
          </a:p>
          <a:p>
            <a:pPr algn="l">
              <a:spcAft>
                <a:spcPts val="200"/>
              </a:spcAft>
              <a:defRPr sz="850" b="1">
                <a:solidFill>
                  <a:srgbClr val="10B981"/>
                </a:solidFill>
                <a:latin typeface="Calibri"/>
              </a:defRPr>
            </a:pPr>
            <a:r>
              <a:t>Delhi-Kanpur 433.5 km Benchmark</a:t>
            </a:r>
          </a:p>
          <a:p>
            <a:pPr algn="l">
              <a:spcAft>
                <a:spcPts val="400"/>
              </a:spcAft>
              <a:defRPr sz="850" b="0">
                <a:solidFill>
                  <a:srgbClr val="94A3B8"/>
                </a:solidFill>
                <a:latin typeface="Calibri"/>
              </a:defRPr>
            </a:pPr>
            <a:r>
              <a:t>Authentic double-line arterial corridor model with 6 sub-divisions and 140+ daily scheduled trains.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57200" y="3657600"/>
            <a:ext cx="11274552" cy="2103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1" name="Picture 17420" descr="setu_repo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86200"/>
            <a:ext cx="1645920" cy="1645920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548640" y="5440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50" b="1">
                <a:solidFill>
                  <a:srgbClr val="06B6D4"/>
                </a:solidFill>
                <a:latin typeface="Calibri"/>
              </a:defRPr>
            </a:pPr>
            <a:r>
              <a:t>SCAN TO INSPECT REPO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2743200" y="3840480"/>
            <a:ext cx="8778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100" b="1">
                <a:solidFill>
                  <a:srgbClr val="10B981"/>
                </a:solidFill>
                <a:latin typeface="Calibri"/>
              </a:defRPr>
            </a:pPr>
            <a:r>
              <a:t>LIVE CODEBASE &amp; SIMULATION VERIFICATION SUMMARY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[VERIFIED] 55 / 55 Unit &amp; Integration Tests Passing — 100% test coverage on solver constraints, safety validation, and disruption recovery.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[VERIFIED] Google OR-Tools CP-SAT + FastAPI Telemetry — Production-grade Python 3.11 backend with asynchronous optimization engine.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[VERIFIED] Interactive Marey String Chart Included — Section-by-section dynamic space-time visualization with live conflict detection.</a:t>
            </a:r>
          </a:p>
          <a:p>
            <a:pPr algn="l">
              <a:spcAft>
                <a:spcPts val="300"/>
              </a:spcAft>
              <a:defRPr sz="850" b="0">
                <a:solidFill>
                  <a:srgbClr val="F8FAFC"/>
                </a:solidFill>
                <a:latin typeface="Calibri"/>
              </a:defRPr>
            </a:pPr>
            <a:r>
              <a:t>[VERIFIED] Delhi-Kanpur Double-Line Dataset Reproducible — Complete 433.5 km simulation dataset included for independent peer review.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